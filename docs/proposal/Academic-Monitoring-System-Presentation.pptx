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2A3D"/>
                </a:solidFill>
                <a:latin typeface="Calibri"/>
              </a:defRPr>
            </a:pPr>
            <a:r>
              <a:rPr lang="en-US" sz="1500" b="0" i="0" u="none" strike="noStrike">
                <a:solidFill>
                  <a:srgbClr val="0B2A3D"/>
                </a:solidFill>
                <a:latin typeface="Calibri"/>
              </a:rPr>
              <a:t>Example grading weights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Example grading weights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61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C71-4C90-A94E-5B95C0EC86D0}"/>
              </c:ext>
            </c:extLst>
          </c:dPt>
          <c:dPt>
            <c:idx val="1"/>
            <c:bubble3D val="0"/>
            <c:spPr>
              <a:solidFill>
                <a:srgbClr val="0B2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71-4C90-A94E-5B95C0EC86D0}"/>
              </c:ext>
            </c:extLst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C71-4C90-A94E-5B95C0EC86D0}"/>
              </c:ext>
            </c:extLst>
          </c:dPt>
          <c:dPt>
            <c:idx val="3"/>
            <c:bubble3D val="0"/>
            <c:spPr>
              <a:solidFill>
                <a:srgbClr val="7FA0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C71-4C90-A94E-5B95C0EC86D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C71-4C90-A94E-5B95C0EC86D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71-4C90-A94E-5B95C0EC86D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C71-4C90-A94E-5B95C0EC86D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C71-4C90-A94E-5B95C0EC86D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Quizzes</c:v>
                </c:pt>
                <c:pt idx="1">
                  <c:v>Examinations</c:v>
                </c:pt>
                <c:pt idx="2">
                  <c:v>Practical</c:v>
                </c:pt>
                <c:pt idx="3">
                  <c:v>Other requirements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30</c:v>
                </c:pt>
                <c:pt idx="2">
                  <c:v>30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C71-4C90-A94E-5B95C0EC86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26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A3D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B2A3D"/>
                </a:solidFill>
                <a:latin typeface="Calibri"/>
              </a:rPr>
              <a:t>Standing distribution (illustrative)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Standing distribution (illustrative)</c:v>
                </c:pt>
              </c:strCache>
            </c:strRef>
          </c:tx>
          <c:spPr>
            <a:solidFill>
              <a:srgbClr val="1238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726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Passing</c:v>
                </c:pt>
                <c:pt idx="1">
                  <c:v>At Risk</c:v>
                </c:pt>
                <c:pt idx="2">
                  <c:v>Failing</c:v>
                </c:pt>
                <c:pt idx="3">
                  <c:v>Incomplete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342</c:v>
                </c:pt>
                <c:pt idx="1">
                  <c:v>38</c:v>
                </c:pt>
                <c:pt idx="2">
                  <c:v>14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12-4641-8FEA-9AA045BB53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6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605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Academic Monitoring System: one secure platform for the school, running on its own network. The screenshot is the real sign-in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challenges when training records are kept on paper and in separate spreadsheets. Each grows with the number of candidates, subjects and examinations.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is organised into modules that share the same records. A score entered once updates grades, standing, dashboards and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Installed on a server at the school. Computers and tablets connect through the school’s own Wi-Fi or local network. No public internet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roles. Access depends on the role and, for instructors, on the classes and subjects assigned to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subject has its own categories and weights set by the academic office. Instructors record scores; the system computes every grade and standing. The weights shown are only an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Dashboards show the academic status at a glance and point to the candidates who need attention. The figures here are illustrative, not real school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Instructors build reusable questions per subject and topic, then create quizzes and examinations in three guided steps. They can only publish to their own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Candidates use a simple, touch-friendly screen on school tablets. Answers are saved automatically and survive brief Wi-Fi interruptions.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an examination the instructor’s screen refreshes on its own. Answers are never shown there. Leaving the exam screen is recorded as an indicator only — no camera or microphone.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Reports come straight from the records, so they are always current. The other records — fitness, expenses and the audit history — live in the same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side-by-side view of common manual practices and the same work in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was built in from the start. To run it, the school needs a server, its network, and devices with a modern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invite questions. Offer a live demonstration with sample (fictional)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3.png"/><Relationship Id="rId10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6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4" Type="http://schemas.openxmlformats.org/officeDocument/2006/relationships/image" Target="../media/image30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194560"/>
            <a:ext cx="6400800" cy="6400800"/>
          </a:xfrm>
          <a:prstGeom prst="ellipse">
            <a:avLst/>
          </a:prstGeom>
          <a:solidFill>
            <a:srgbClr val="14472F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14472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C:\Users\MAURICIO\Documents\student portal\public\branding\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868680" cy="868680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60350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Philippine Army Officer Candidate School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987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2B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SYSTEM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57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500" dirty="0">
                <a:solidFill>
                  <a:srgbClr val="E2B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PROPOSAL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95728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Monitoring System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0690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D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secure platform for candidate records, grades, digital examinations and academic monitoring — on the school’s own network.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577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B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ServLife Solutions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5577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B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54496" y="1700784"/>
            <a:ext cx="5413248" cy="3172968"/>
          </a:xfrm>
          <a:prstGeom prst="roundRect">
            <a:avLst>
              <a:gd name="adj" fmla="val 2305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C:\Users\MAURICIO\Documents\student portal\docs\proposal\assets\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55648"/>
            <a:ext cx="5303520" cy="298323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309360" y="4983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system’s sign-in page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Monitoring System  ·  System Proposal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057400"/>
            <a:ext cx="566928" cy="566928"/>
          </a:xfrm>
          <a:prstGeom prst="ellipse">
            <a:avLst/>
          </a:prstGeom>
          <a:solidFill>
            <a:srgbClr val="A23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C:\Users\MAURICIO\AppData\Local\Temp\claude\C--Users-MAURICIO-Documents-student-portal\fd8d7b10-5065-4e55-91f9-113914a9b786\scratchpad\deck\icons\fil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2193463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274320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quizzes and examinations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08152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Printing, collecting and checking papers by hand takes hours, and papers can be misplaced.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34840" y="178308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2057400"/>
            <a:ext cx="566928" cy="566928"/>
          </a:xfrm>
          <a:prstGeom prst="ellipse">
            <a:avLst/>
          </a:prstGeom>
          <a:solidFill>
            <a:srgbClr val="A23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C:\Users\MAURICIO\AppData\Local\Temp\claude\C--Users-MAURICIO-Documents-student-portal\fd8d7b10-5065-4e55-91f9-113914a9b786\scratchpad\deck\icons\calc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223" y="219346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09160" y="274320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grade computation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308152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grades worked out by hand or in separate files are slow, and mistakes are hard to find.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0" y="178308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503920" y="2057400"/>
            <a:ext cx="566928" cy="566928"/>
          </a:xfrm>
          <a:prstGeom prst="ellipse">
            <a:avLst/>
          </a:prstGeom>
          <a:solidFill>
            <a:srgbClr val="A23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C:\Users\MAURICIO\AppData\Local\Temp\claude\C--Users-MAURICIO-Documents-student-portal\fd8d7b10-5065-4e55-91f9-113914a9b786\scratchpad\deck\icons\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9983" y="219346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503920" y="274320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noticed too late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503920" y="308152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falling behind may only be noticed when final grades are prepared.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402336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914400" y="4297680"/>
            <a:ext cx="566928" cy="566928"/>
          </a:xfrm>
          <a:prstGeom prst="ellipse">
            <a:avLst/>
          </a:prstGeom>
          <a:solidFill>
            <a:srgbClr val="A23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C:\Users\MAURICIO\AppData\Local\Temp\claude\C--Users-MAURICIO-Documents-student-portal\fd8d7b10-5065-4e55-91f9-113914a9b786\scratchpad\deck\icons\fold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463" y="4433743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4400" y="49834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records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914400" y="532180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Grades, results, fitness records and expenses sit in different files and offices.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434840" y="402336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709160" y="4297680"/>
            <a:ext cx="566928" cy="566928"/>
          </a:xfrm>
          <a:prstGeom prst="ellipse">
            <a:avLst/>
          </a:prstGeom>
          <a:solidFill>
            <a:srgbClr val="A23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C:\Users\MAURICIO\AppData\Local\Temp\claude\C--Users-MAURICIO-Documents-student-portal\fd8d7b10-5065-4e55-91f9-113914a9b786\scratchpad\deck\icons\file-chart-colum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5223" y="4433743"/>
            <a:ext cx="294803" cy="29480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709160" y="49834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reporting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4709160" y="532180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and subject summaries must be compiled by hand for every request.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229600" y="402336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8503920" y="4297680"/>
            <a:ext cx="566928" cy="566928"/>
          </a:xfrm>
          <a:prstGeom prst="ellipse">
            <a:avLst/>
          </a:prstGeom>
          <a:solidFill>
            <a:srgbClr val="A23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C:\Users\MAURICIO\AppData\Local\Temp\claude\C--Users-MAURICIO-Documents-student-portal\fd8d7b10-5065-4e55-91f9-113914a9b786\scratchpad\deck\icons\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9983" y="4433743"/>
            <a:ext cx="294803" cy="294803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503920" y="49834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traceability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8503920" y="532180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grade changes, it is hard to know who changed it, when and why.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Twelve Connected Modules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Monitoring System  ·  System Proposal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560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" y="2002536"/>
            <a:ext cx="530352" cy="530352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C:\Users\MAURICIO\AppData\Local\Temp\claude\C--Users-MAURICIO-Documents-student-portal\fd8d7b10-5065-4e55-91f9-113914a9b786\scratchpad\deck\icons\graduation-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32" y="2129820"/>
            <a:ext cx="275783" cy="27578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9842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Records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photos and official PDFs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47288" y="1783080"/>
            <a:ext cx="2560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48456" y="2002536"/>
            <a:ext cx="530352" cy="530352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C:\Users\MAURICIO\AppData\Local\Temp\claude\C--Users-MAURICIO-Documents-student-portal\fd8d7b10-5065-4e55-91f9-113914a9b786\scratchpad\deck\icons\scho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5740" y="2129820"/>
            <a:ext cx="275783" cy="27578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15968" y="19842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Structure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315968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Periods, classes, subjects, instructors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54496" y="1783080"/>
            <a:ext cx="2560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55664" y="2002536"/>
            <a:ext cx="530352" cy="530352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C:\Users\MAURICIO\AppData\Local\Temp\claude\C--Users-MAURICIO-Documents-student-portal\fd8d7b10-5065-4e55-91f9-113914a9b786\scratchpad\deck\icons\calcula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2948" y="2129820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23176" y="19842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and Standing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123176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and automatic grades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061704" y="1783080"/>
            <a:ext cx="2560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9262872" y="2002536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C:\Users\MAURICIO\AppData\Local\Temp\claude\C--Users-MAURICIO-Documents-student-portal\fd8d7b10-5065-4e55-91f9-113914a9b786\scratchpad\deck\icons\activ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0156" y="2129820"/>
            <a:ext cx="275783" cy="27578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930384" y="19842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Monitoring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9930384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and early warning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40080" y="3246120"/>
            <a:ext cx="2560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841248" y="3465576"/>
            <a:ext cx="530352" cy="530352"/>
          </a:xfrm>
          <a:prstGeom prst="ellipse">
            <a:avLst/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C:\Users\MAURICIO\AppData\Local\Temp\claude\C--Users-MAURICIO-Documents-student-portal\fd8d7b10-5065-4e55-91f9-113914a9b786\scratchpad\deck\icons\libra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532" y="3592860"/>
            <a:ext cx="275783" cy="27578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508760" y="34472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1508760" y="3904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questions with media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3447288" y="3246120"/>
            <a:ext cx="2560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3648456" y="3465576"/>
            <a:ext cx="530352" cy="530352"/>
          </a:xfrm>
          <a:prstGeom prst="ellipse">
            <a:avLst/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C:\Users\MAURICIO\AppData\Local\Temp\claude\C--Users-MAURICIO-Documents-student-portal\fd8d7b10-5065-4e55-91f9-113914a9b786\scratchpad\deck\icons\clipboard-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5740" y="3592860"/>
            <a:ext cx="275783" cy="275783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315968" y="34472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and Exams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4315968" y="3904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Builder, settings, publishing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6254496" y="3246120"/>
            <a:ext cx="2560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6455664" y="3465576"/>
            <a:ext cx="530352" cy="530352"/>
          </a:xfrm>
          <a:prstGeom prst="ellipse">
            <a:avLst/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6" descr="C:\Users\MAURICIO\AppData\Local\Temp\claude\C--Users-MAURICIO-Documents-student-portal\fd8d7b10-5065-4e55-91f9-113914a9b786\scratchpad\deck\icons\tabl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2948" y="3592860"/>
            <a:ext cx="275783" cy="275783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123176" y="34472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Examinations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7123176" y="3904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Timer, autosave and recovery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9061704" y="3246120"/>
            <a:ext cx="2560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3"/>
          <p:cNvSpPr/>
          <p:nvPr/>
        </p:nvSpPr>
        <p:spPr>
          <a:xfrm>
            <a:off x="9262872" y="3465576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7" descr="C:\Users\MAURICIO\AppData\Local\Temp\claude\C--Users-MAURICIO-Documents-student-portal\fd8d7b10-5065-4e55-91f9-113914a9b786\scratchpad\deck\icons\monitor-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90156" y="3592860"/>
            <a:ext cx="275783" cy="275783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930384" y="34472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</a:t>
            </a:r>
            <a:endParaRPr lang="en-US" sz="1400" dirty="0"/>
          </a:p>
        </p:txBody>
      </p:sp>
      <p:sp>
        <p:nvSpPr>
          <p:cNvPr id="45" name="Text 35"/>
          <p:cNvSpPr txBox="1"/>
          <p:nvPr/>
        </p:nvSpPr>
        <p:spPr>
          <a:xfrm>
            <a:off x="9930384" y="3904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finished or away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640080" y="4709160"/>
            <a:ext cx="2560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7"/>
          <p:cNvSpPr/>
          <p:nvPr/>
        </p:nvSpPr>
        <p:spPr>
          <a:xfrm>
            <a:off x="841248" y="4928616"/>
            <a:ext cx="530352" cy="530352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8" descr="C:\Users\MAURICIO\AppData\Local\Temp\claude\C--Users-MAURICIO-Documents-student-portal\fd8d7b10-5065-4e55-91f9-113914a9b786\scratchpad\deck\icons\file-chart-colum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8532" y="5055900"/>
            <a:ext cx="275783" cy="275783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1508760" y="49103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50" name="Text 39"/>
          <p:cNvSpPr txBox="1"/>
          <p:nvPr/>
        </p:nvSpPr>
        <p:spPr>
          <a:xfrm>
            <a:off x="1508760" y="53675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reports with charts</a:t>
            </a:r>
            <a:endParaRPr lang="en-US" sz="1100" dirty="0"/>
          </a:p>
        </p:txBody>
      </p:sp>
      <p:sp>
        <p:nvSpPr>
          <p:cNvPr id="51" name="Shape 40"/>
          <p:cNvSpPr/>
          <p:nvPr/>
        </p:nvSpPr>
        <p:spPr>
          <a:xfrm>
            <a:off x="3447288" y="4709160"/>
            <a:ext cx="2560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1"/>
          <p:cNvSpPr/>
          <p:nvPr/>
        </p:nvSpPr>
        <p:spPr>
          <a:xfrm>
            <a:off x="3648456" y="4928616"/>
            <a:ext cx="530352" cy="530352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9" descr="C:\Users\MAURICIO\AppData\Local\Temp\claude\C--Users-MAURICIO-Documents-student-portal\fd8d7b10-5065-4e55-91f9-113914a9b786\scratchpad\deck\icons\dumbbel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75740" y="5055900"/>
            <a:ext cx="275783" cy="275783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4315968" y="49103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Fitness</a:t>
            </a:r>
            <a:endParaRPr lang="en-US" sz="1400" dirty="0"/>
          </a:p>
        </p:txBody>
      </p:sp>
      <p:sp>
        <p:nvSpPr>
          <p:cNvPr id="55" name="Text 43"/>
          <p:cNvSpPr txBox="1"/>
          <p:nvPr/>
        </p:nvSpPr>
        <p:spPr>
          <a:xfrm>
            <a:off x="4315968" y="53675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standards, scoring</a:t>
            </a:r>
            <a:endParaRPr lang="en-US" sz="1100" dirty="0"/>
          </a:p>
        </p:txBody>
      </p:sp>
      <p:sp>
        <p:nvSpPr>
          <p:cNvPr id="56" name="Shape 44"/>
          <p:cNvSpPr/>
          <p:nvPr/>
        </p:nvSpPr>
        <p:spPr>
          <a:xfrm>
            <a:off x="6254496" y="4709160"/>
            <a:ext cx="2560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5"/>
          <p:cNvSpPr/>
          <p:nvPr/>
        </p:nvSpPr>
        <p:spPr>
          <a:xfrm>
            <a:off x="6455664" y="4928616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8" name="Image 10" descr="C:\Users\MAURICIO\AppData\Local\Temp\claude\C--Users-MAURICIO-Documents-student-portal\fd8d7b10-5065-4e55-91f9-113914a9b786\scratchpad\deck\icons\wallet-card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2948" y="5055900"/>
            <a:ext cx="275783" cy="275783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7123176" y="49103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400" dirty="0"/>
          </a:p>
        </p:txBody>
      </p:sp>
      <p:sp>
        <p:nvSpPr>
          <p:cNvPr id="60" name="Text 47"/>
          <p:cNvSpPr txBox="1"/>
          <p:nvPr/>
        </p:nvSpPr>
        <p:spPr>
          <a:xfrm>
            <a:off x="7123176" y="53675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to classes or candidates</a:t>
            </a:r>
            <a:endParaRPr lang="en-US" sz="1100" dirty="0"/>
          </a:p>
        </p:txBody>
      </p:sp>
      <p:sp>
        <p:nvSpPr>
          <p:cNvPr id="61" name="Shape 48"/>
          <p:cNvSpPr/>
          <p:nvPr/>
        </p:nvSpPr>
        <p:spPr>
          <a:xfrm>
            <a:off x="9061704" y="4709160"/>
            <a:ext cx="2560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49"/>
          <p:cNvSpPr/>
          <p:nvPr/>
        </p:nvSpPr>
        <p:spPr>
          <a:xfrm>
            <a:off x="9262872" y="4928616"/>
            <a:ext cx="530352" cy="530352"/>
          </a:xfrm>
          <a:prstGeom prst="ellipse">
            <a:avLst/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3" name="Image 11" descr="C:\Users\MAURICIO\AppData\Local\Temp\claude\C--Users-MAURICIO-Documents-student-portal\fd8d7b10-5065-4e55-91f9-113914a9b786\scratchpad\deck\icons\histor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90156" y="5055900"/>
            <a:ext cx="275783" cy="275783"/>
          </a:xfrm>
          <a:prstGeom prst="rect">
            <a:avLst/>
          </a:prstGeom>
        </p:spPr>
      </p:pic>
      <p:sp>
        <p:nvSpPr>
          <p:cNvPr id="64" name="Text 50"/>
          <p:cNvSpPr txBox="1"/>
          <p:nvPr/>
        </p:nvSpPr>
        <p:spPr>
          <a:xfrm>
            <a:off x="9930384" y="49103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History</a:t>
            </a:r>
            <a:endParaRPr lang="en-US" sz="1400" dirty="0"/>
          </a:p>
        </p:txBody>
      </p:sp>
      <p:sp>
        <p:nvSpPr>
          <p:cNvPr id="65" name="Text 51"/>
          <p:cNvSpPr txBox="1"/>
          <p:nvPr/>
        </p:nvSpPr>
        <p:spPr>
          <a:xfrm>
            <a:off x="9930384" y="53675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changed what, when, why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Runs at the School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Monitoring System  ·  System Proposal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468880" cy="2331720"/>
          </a:xfrm>
          <a:prstGeom prst="roundRect">
            <a:avLst>
              <a:gd name="adj" fmla="val 4706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63040" y="2103120"/>
            <a:ext cx="822960" cy="822960"/>
          </a:xfrm>
          <a:prstGeom prst="ellipse">
            <a:avLst/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C:\Users\MAURICIO\AppData\Local\Temp\claude\C--Users-MAURICIO-Documents-student-portal\fd8d7b10-5065-4e55-91f9-113914a9b786\scratchpad\deck\icons\tab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550" y="2300630"/>
            <a:ext cx="427939" cy="42793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Tablets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and examinations; installable as an app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45536" y="2990088"/>
            <a:ext cx="27432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53689" y="1828800"/>
            <a:ext cx="2468880" cy="2331720"/>
          </a:xfrm>
          <a:prstGeom prst="roundRect">
            <a:avLst>
              <a:gd name="adj" fmla="val 4706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76649" y="2103120"/>
            <a:ext cx="822960" cy="822960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C:\Users\MAURICIO\AppData\Local\Temp\claude\C--Users-MAURICIO-Documents-student-portal\fd8d7b10-5065-4e55-91f9-113914a9b786\scratchpad\deck\icons\mon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159" y="2300630"/>
            <a:ext cx="427939" cy="42793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90849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Computers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36569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and instructors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59145" y="2990088"/>
            <a:ext cx="27432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267298" y="1828800"/>
            <a:ext cx="2468880" cy="2331720"/>
          </a:xfrm>
          <a:prstGeom prst="roundRect">
            <a:avLst>
              <a:gd name="adj" fmla="val 4706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090258" y="210312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C:\Users\MAURICIO\AppData\Local\Temp\claude\C--Users-MAURICIO-Documents-student-portal\fd8d7b10-5065-4e55-91f9-113914a9b786\scratchpad\deck\icons\wif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2300630"/>
            <a:ext cx="427939" cy="42793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04458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Network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450178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Wi-Fi or local area network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772754" y="2990088"/>
            <a:ext cx="27432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080906" y="1828800"/>
            <a:ext cx="2468880" cy="2331720"/>
          </a:xfrm>
          <a:prstGeom prst="roundRect">
            <a:avLst>
              <a:gd name="adj" fmla="val 4706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9903866" y="2103120"/>
            <a:ext cx="822960" cy="822960"/>
          </a:xfrm>
          <a:prstGeom prst="ellipse">
            <a:avLst/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C:\Users\MAURICIO\AppData\Local\Temp\claude\C--Users-MAURICIO-Documents-student-portal\fd8d7b10-5065-4e55-91f9-113914a9b786\scratchpad\deck\icons\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377" y="2300630"/>
            <a:ext cx="427939" cy="427939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18066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Server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9263786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and its database, kept on site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40080" y="461772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F7E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914400" y="4864608"/>
            <a:ext cx="777240" cy="777240"/>
          </a:xfrm>
          <a:prstGeom prst="ellipse">
            <a:avLst/>
          </a:prstGeom>
          <a:solidFill>
            <a:srgbClr val="0B2A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C:\Users\MAURICIO\AppData\Local\Temp\claude\C--Users-MAURICIO-Documents-student-portal\fd8d7b10-5065-4e55-91f9-113914a9b786\scratchpad\deck\icons\wifi-o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938" y="5051146"/>
            <a:ext cx="404165" cy="40416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965960" y="48463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internet required</a:t>
            </a:r>
            <a:endParaRPr lang="en-US" sz="1800" dirty="0"/>
          </a:p>
        </p:txBody>
      </p:sp>
      <p:sp>
        <p:nvSpPr>
          <p:cNvPr id="33" name="Text 26"/>
          <p:cNvSpPr txBox="1"/>
          <p:nvPr/>
        </p:nvSpPr>
        <p:spPr>
          <a:xfrm>
            <a:off x="1965960" y="523036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does not rely on outside services or cloud storage, and the school’s records never leave the school’s network.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the 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Monitoring System  ·  System Proposal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0574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B2A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C:\Users\MAURICIO\AppData\Local\Temp\claude\C--Users-MAURICIO-Documents-student-portal\fd8d7b10-5065-4e55-91f9-113914a9b786\scratchpad\deck\icons\shield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945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Administrator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2423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system management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783080" y="2770632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accounts, roles and permissions</a:t>
            </a:r>
            <a:endParaRPr lang="en-US" sz="1250" dirty="0"/>
          </a:p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every module and record</a:t>
            </a:r>
            <a:endParaRPr lang="en-US" sz="1250" dirty="0"/>
          </a:p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full audit history</a:t>
            </a:r>
            <a:endParaRPr lang="en-US" sz="1250" dirty="0"/>
          </a:p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candidates for expenses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99632" y="178308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73952" y="20574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447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C:\Users\MAURICIO\AppData\Local\Temp\claude\C--Users-MAURICIO-Documents-student-portal\fd8d7b10-5065-4e55-91f9-113914a9b786\scratchpad\deck\icons\user-round-c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19456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42632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Administrator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342632" y="2423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office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342632" y="2770632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candidates, classes, subjects, periods</a:t>
            </a:r>
            <a:endParaRPr lang="en-US" sz="1250" dirty="0"/>
          </a:p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instructors</a:t>
            </a:r>
            <a:endParaRPr lang="en-US" sz="1250" dirty="0"/>
          </a:p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grading rules and thresholds</a:t>
            </a:r>
            <a:endParaRPr lang="en-US" sz="1250" dirty="0"/>
          </a:p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monitoring, reports and fitness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406908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14400" y="43434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C:\Users\MAURICIO\AppData\Local\Temp\claude\C--Users-MAURICIO-Documents-student-portal\fd8d7b10-5065-4e55-91f9-113914a9b786\scratchpad\deck\icons\present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48056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783080" y="4343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783080" y="4709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classes and subjects only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1783080" y="5056632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and finalizes grades</a:t>
            </a:r>
            <a:endParaRPr lang="en-US" sz="1250" dirty="0"/>
          </a:p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questions, quizzes and exams</a:t>
            </a:r>
            <a:endParaRPr lang="en-US" sz="1250" dirty="0"/>
          </a:p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exams live, grades essays</a:t>
            </a:r>
            <a:endParaRPr lang="en-US" sz="1250" dirty="0"/>
          </a:p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alerts for own candidates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199632" y="406908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473952" y="43434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3350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C:\Users\MAURICIO\AppData\Local\Temp\claude\C--Users-MAURICIO-Documents-student-portal\fd8d7b10-5065-4e55-91f9-113914a9b786\scratchpad\deck\icons\graduation-c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448056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342632" y="4343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7342632" y="4709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school tablet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7342632" y="5056632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quizzes and examinations</a:t>
            </a:r>
            <a:endParaRPr lang="en-US" sz="1250" dirty="0"/>
          </a:p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own grades and standing</a:t>
            </a:r>
            <a:endParaRPr lang="en-US" sz="1250" dirty="0"/>
          </a:p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own released results</a:t>
            </a:r>
            <a:endParaRPr lang="en-US" sz="1250" dirty="0"/>
          </a:p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own registration and record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Grades, Computed Automatically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Monitoring System  ·  System Proposal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record scores once. The system applies the school’s own grading weights and works out every grade and academic standing — no hand computation, no separate spreadsheets.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categories and weights for each subject</a:t>
            </a:r>
            <a:endParaRPr lang="en-US" sz="15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and warning grades for each academic period</a:t>
            </a:r>
            <a:endParaRPr lang="en-US" sz="15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scores stay missing — never counted as zero</a:t>
            </a:r>
            <a:endParaRPr lang="en-US" sz="15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need a reason and are kept in history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846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STANDING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5193792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2F7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5193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84832" y="5193792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C278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084832" y="5193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29584" y="5193792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529584" y="5193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74336" y="5193792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6B77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974336" y="5193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0" y="1783080"/>
            <a:ext cx="4782312" cy="4206240"/>
          </a:xfrm>
          <a:prstGeom prst="roundRect">
            <a:avLst>
              <a:gd name="adj" fmla="val 2609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8" name="Chart 0"/>
          <p:cNvGraphicFramePr/>
          <p:nvPr/>
        </p:nvGraphicFramePr>
        <p:xfrm>
          <a:off x="6949440" y="1874520"/>
          <a:ext cx="441655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6949440" y="5559552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only — weights are set by the academic office.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Who Needs Help — Early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Monitoring System  ·  System Proposal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84708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33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62072" y="178308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862072" y="184708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F7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342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2862072" y="2633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84064" y="178308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084064" y="184708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278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5084064" y="2633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06056" y="178308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306056" y="184708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7306056" y="2633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528048" y="178308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528048" y="184708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B77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9528048" y="2633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1729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figures, showing how the administrator dashboard summarizes standing.</a:t>
            </a:r>
            <a:endParaRPr lang="en-US" sz="11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640080" y="3566160"/>
          <a:ext cx="56692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6675120" y="3657600"/>
            <a:ext cx="48737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dashboard: </a:t>
            </a: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standing, subject performance and grade distribution charts</a:t>
            </a:r>
            <a:endParaRPr lang="en-US" sz="14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dashboard: </a:t>
            </a: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subjects, upcoming assessments and alerts</a:t>
            </a:r>
            <a:endParaRPr lang="en-US" sz="14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and failing lists </a:t>
            </a: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filters</a:t>
            </a:r>
            <a:endParaRPr lang="en-US" sz="14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profile: </a:t>
            </a: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by subject and overall standing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Bank and Exam Builder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Monitoring System  ·  System Proposal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C:\Users\MAURICIO\AppData\Local\Temp\claude\C--Users-MAURICIO-Documents-student-portal\fd8d7b10-5065-4e55-91f9-113914a9b786\scratchpad\deck\icons\libr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21652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283464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14400" y="2834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487168" y="283464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2487168" y="2834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059936" y="283464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059936" y="2834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7472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points and explanations</a:t>
            </a:r>
            <a:endParaRPr lang="en-US" sz="14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audio and video in questions</a:t>
            </a:r>
            <a:endParaRPr lang="en-US" sz="14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inside answer choices</a:t>
            </a:r>
            <a:endParaRPr lang="en-US" sz="14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many questions from a CSV file</a:t>
            </a:r>
            <a:endParaRPr lang="en-US" sz="14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to make variations quickly</a:t>
            </a:r>
            <a:endParaRPr lang="en-US" sz="14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instead of delete, keeping history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91072" y="1783080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565392" y="2011680"/>
            <a:ext cx="640080" cy="640080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C:\Users\MAURICIO\AppData\Local\Temp\claude\C--Users-MAURICIO-Documents-student-portal\fd8d7b10-5065-4e55-91f9-113914a9b786\scratchpad\deck\icons\clipboard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011" y="2165299"/>
            <a:ext cx="332842" cy="33284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388352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and Exam Builder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6565392" y="283464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6565392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004304" y="28346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193024" y="283464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8193024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8631936" y="28346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9820656" y="283464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9820656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10259568" y="28346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Publish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565392" y="347472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and closing time, time limit, attempts</a:t>
            </a:r>
            <a:endParaRPr lang="en-US" sz="14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 and optional access code</a:t>
            </a:r>
            <a:endParaRPr lang="en-US" sz="14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questions and answer choices</a:t>
            </a:r>
            <a:endParaRPr lang="en-US" sz="14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set of questions per candidate</a:t>
            </a:r>
            <a:endParaRPr lang="en-US" sz="14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at a time; allow or block going back</a:t>
            </a:r>
            <a:endParaRPr lang="en-US" sz="14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submission when time runs out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Tablet Examination Experience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Monitoring System  ·  System Proposal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34440" y="1828800"/>
            <a:ext cx="822960" cy="822960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C:\Users\MAURICIO\AppData\Local\Temp\claude\C--Users-MAURICIO-Documents-student-portal\fd8d7b10-5065-4e55-91f9-113914a9b786\scratchpad\deck\icons\tab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950" y="2026310"/>
            <a:ext cx="427939" cy="42793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portal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194560" y="2240280"/>
            <a:ext cx="10515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56432" y="1828800"/>
            <a:ext cx="822960" cy="822960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C:\Users\MAURICIO\AppData\Local\Temp\claude\C--Users-MAURICIO-Documents-student-portal\fd8d7b10-5065-4e55-91f9-113914a9b786\scratchpad\deck\icons\log-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942" y="20263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62072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416552" y="2240280"/>
            <a:ext cx="10515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678424" y="1828800"/>
            <a:ext cx="822960" cy="822960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C:\Users\MAURICIO\AppData\Local\Temp\claude\C--Users-MAURICIO-Documents-student-portal\fd8d7b10-5065-4e55-91f9-113914a9b786\scratchpad\deck\icons\clipboard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934" y="202631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84064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exam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638544" y="2240280"/>
            <a:ext cx="10515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900416" y="182880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C:\Users\MAURICIO\AppData\Local\Temp\claude\C--Users-MAURICIO-Documents-student-portal\fd8d7b10-5065-4e55-91f9-113914a9b786\scratchpad\deck\icons\sa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926" y="2026310"/>
            <a:ext cx="427939" cy="42793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306056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— saved automatically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8860536" y="2240280"/>
            <a:ext cx="10515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10122408" y="1828800"/>
            <a:ext cx="822960" cy="822960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C:\Users\MAURICIO\AppData\Local\Temp\claude\C--Users-MAURICIO-Documents-student-portal\fd8d7b10-5065-4e55-91f9-113914a9b786\scratchpad\deck\icons\s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9918" y="2026310"/>
            <a:ext cx="427939" cy="42793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528048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and get a receipt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40080" y="3611880"/>
            <a:ext cx="3456432" cy="2377440"/>
          </a:xfrm>
          <a:prstGeom prst="roundRect">
            <a:avLst>
              <a:gd name="adj" fmla="val 4615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914400" y="3858768"/>
            <a:ext cx="548640" cy="548640"/>
          </a:xfrm>
          <a:prstGeom prst="ellipse">
            <a:avLst/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C:\Users\MAURICIO\AppData\Local\Temp\claude\C--Users-MAURICIO-Documents-student-portal\fd8d7b10-5065-4e55-91f9-113914a9b786\scratchpad\deck\icons\tim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074" y="3990442"/>
            <a:ext cx="285293" cy="285293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600200" y="3904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and calm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914400" y="457200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answer buttons, visible progress and timer, and a question list showing answered, unanswered and flagged items.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4352544" y="3611880"/>
            <a:ext cx="3456432" cy="2377440"/>
          </a:xfrm>
          <a:prstGeom prst="roundRect">
            <a:avLst>
              <a:gd name="adj" fmla="val 4615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4626864" y="3858768"/>
            <a:ext cx="548640" cy="548640"/>
          </a:xfrm>
          <a:prstGeom prst="ellipse">
            <a:avLst/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C:\Users\MAURICIO\AppData\Local\Temp\claude\C--Users-MAURICIO-Documents-student-portal\fd8d7b10-5065-4e55-91f9-113914a9b786\scratchpad\deck\icons\wifi-o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538" y="3990442"/>
            <a:ext cx="285293" cy="285293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312664" y="3904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Wi-Fi drops are handled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4626864" y="457200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kept on the tablet and sent when the connection returns. The screen always shows whether answers are saved.</a:t>
            </a:r>
            <a:endParaRPr lang="en-US" sz="1250" dirty="0"/>
          </a:p>
        </p:txBody>
      </p:sp>
      <p:sp>
        <p:nvSpPr>
          <p:cNvPr id="35" name="Shape 26"/>
          <p:cNvSpPr/>
          <p:nvPr/>
        </p:nvSpPr>
        <p:spPr>
          <a:xfrm>
            <a:off x="8065008" y="3611880"/>
            <a:ext cx="3456432" cy="2377440"/>
          </a:xfrm>
          <a:prstGeom prst="roundRect">
            <a:avLst>
              <a:gd name="adj" fmla="val 4615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7"/>
          <p:cNvSpPr/>
          <p:nvPr/>
        </p:nvSpPr>
        <p:spPr>
          <a:xfrm>
            <a:off x="8339328" y="3858768"/>
            <a:ext cx="548640" cy="548640"/>
          </a:xfrm>
          <a:prstGeom prst="ellipse">
            <a:avLst/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7" descr="C:\Users\MAURICIO\AppData\Local\Temp\claude\C--Users-MAURICIO-Documents-student-portal\fd8d7b10-5065-4e55-91f9-113914a9b786\scratchpad\deck\icons\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1002" y="3990442"/>
            <a:ext cx="285293" cy="285293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9025128" y="3904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and secure</a:t>
            </a:r>
            <a:endParaRPr lang="en-US" sz="1500" dirty="0"/>
          </a:p>
        </p:txBody>
      </p:sp>
      <p:sp>
        <p:nvSpPr>
          <p:cNvPr id="39" name="Text 29"/>
          <p:cNvSpPr txBox="1"/>
          <p:nvPr/>
        </p:nvSpPr>
        <p:spPr>
          <a:xfrm>
            <a:off x="8339328" y="457200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attempt limits are enforced by the server. A second submission is not possible. Results appear only when released.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AND AFTER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Monitoring, Scoring and Results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Monitoring System  ·  System Proposal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2542032"/>
            <a:ext cx="219456" cy="219456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234440" y="2359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066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now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219456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66160" y="2542032"/>
            <a:ext cx="219456" cy="219456"/>
          </a:xfrm>
          <a:prstGeom prst="ellipse">
            <a:avLst/>
          </a:prstGeom>
          <a:solidFill>
            <a:srgbClr val="0B2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931920" y="2359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7066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8680" y="3639312"/>
            <a:ext cx="219456" cy="219456"/>
          </a:xfrm>
          <a:prstGeom prst="ellipse">
            <a:avLst/>
          </a:prstGeom>
          <a:solidFill>
            <a:srgbClr val="6B77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234440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803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to begin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329184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66160" y="3639312"/>
            <a:ext cx="219456" cy="219456"/>
          </a:xfrm>
          <a:prstGeom prst="ellipse">
            <a:avLst/>
          </a:prstGeom>
          <a:solidFill>
            <a:srgbClr val="C278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931920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3803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recent contact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52628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7E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8680" y="4754880"/>
            <a:ext cx="548640" cy="548640"/>
          </a:xfrm>
          <a:prstGeom prst="ellipse">
            <a:avLst/>
          </a:prstGeom>
          <a:solidFill>
            <a:srgbClr val="0B2A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0" descr="C:\Users\MAURICIO\AppData\Local\Temp\claude\C--Users-MAURICIO-Documents-student-portal\fd8d7b10-5065-4e55-91f9-113914a9b786\scratchpad\deck\icons\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4886554"/>
            <a:ext cx="285293" cy="285293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600200" y="47091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 exam screen is recorded. </a:t>
            </a: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see how often and for how long. An indicator only: no camera, microphone or automatic penalty.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630936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AND RESULTS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309360" y="2212848"/>
            <a:ext cx="530352" cy="530352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1" descr="C:\Users\MAURICIO\AppData\Local\Temp\claude\C--Users-MAURICIO-Documents-student-portal\fd8d7b10-5065-4e55-91f9-113914a9b786\scratchpad\deck\icons\badge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644" y="2340132"/>
            <a:ext cx="275783" cy="275783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995160" y="21945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scoring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6995160" y="24963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and true/false scored on submission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309360" y="2980944"/>
            <a:ext cx="530352" cy="530352"/>
          </a:xfrm>
          <a:prstGeom prst="ellipse">
            <a:avLst/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2" descr="C:\Users\MAURICIO\AppData\Local\Temp\claude\C--Users-MAURICIO-Documents-student-portal\fd8d7b10-5065-4e55-91f9-113914a9b786\scratchpad\deck\icons\list-check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644" y="3108228"/>
            <a:ext cx="275783" cy="275783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6995160" y="296265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grading queue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6995160" y="326440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and feedback, with a change history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6309360" y="3749040"/>
            <a:ext cx="530352" cy="530352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3" descr="C:\Users\MAURICIO\AppData\Local\Temp\claude\C--Users-MAURICIO-Documents-student-portal\fd8d7b10-5065-4e55-91f9-113914a9b786\scratchpad\deck\icons\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644" y="3876324"/>
            <a:ext cx="275783" cy="275783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6995160" y="373075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release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6995160" y="403250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see results only when released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6309360" y="4517136"/>
            <a:ext cx="530352" cy="530352"/>
          </a:xfrm>
          <a:prstGeom prst="ellipse">
            <a:avLst/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4" descr="C:\Users\MAURICIO\AppData\Local\Temp\claude\C--Users-MAURICIO-Documents-student-portal\fd8d7b10-5065-4e55-91f9-113914a9b786\scratchpad\deck\icons\s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6644" y="4644420"/>
            <a:ext cx="275783" cy="275783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6995160" y="449884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gradebook</a:t>
            </a:r>
            <a:endParaRPr lang="en-US" sz="1500" dirty="0"/>
          </a:p>
        </p:txBody>
      </p:sp>
      <p:sp>
        <p:nvSpPr>
          <p:cNvPr id="43" name="Text 36"/>
          <p:cNvSpPr txBox="1"/>
          <p:nvPr/>
        </p:nvSpPr>
        <p:spPr>
          <a:xfrm>
            <a:off x="6995160" y="48006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scores into subject grades in one step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6309360" y="5285232"/>
            <a:ext cx="530352" cy="530352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5" descr="C:\Users\MAURICIO\AppData\Local\Temp\claude\C--Users-MAURICIO-Documents-student-portal\fd8d7b10-5065-4e55-91f9-113914a9b786\scratchpad\deck\icons\chart-colum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6644" y="5412516"/>
            <a:ext cx="275783" cy="275783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6995160" y="526694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analysis</a:t>
            </a:r>
            <a:endParaRPr lang="en-US" sz="1500" dirty="0"/>
          </a:p>
        </p:txBody>
      </p:sp>
      <p:sp>
        <p:nvSpPr>
          <p:cNvPr id="47" name="Text 39"/>
          <p:cNvSpPr txBox="1"/>
          <p:nvPr/>
        </p:nvSpPr>
        <p:spPr>
          <a:xfrm>
            <a:off x="6995160" y="556869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questions that were too hard or unclear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RECORDS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Reports, Fitness, Expenses and History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Monitoring System  ·  System Proposal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0B2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C:\Users\MAURICIO\AppData\Local\Temp\claude\C--Users-MAURICIO-Documents-student-portal\fd8d7b10-5065-4e55-91f9-113914a9b786\scratchpad\deck\icons\file-chart-colum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21652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2029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Ready-Made Reports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3957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Filtered, charted, printed or saved as PDF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3063240"/>
            <a:ext cx="2194560" cy="512064"/>
          </a:xfrm>
          <a:prstGeom prst="roundRect">
            <a:avLst>
              <a:gd name="adj" fmla="val 50000"/>
            </a:avLst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14400" y="306324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standing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91840" y="3063240"/>
            <a:ext cx="2194560" cy="512064"/>
          </a:xfrm>
          <a:prstGeom prst="roundRect">
            <a:avLst>
              <a:gd name="adj" fmla="val 50000"/>
            </a:avLst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3291840" y="306324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performance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" y="3776472"/>
            <a:ext cx="2194560" cy="512064"/>
          </a:xfrm>
          <a:prstGeom prst="roundRect">
            <a:avLst>
              <a:gd name="adj" fmla="val 50000"/>
            </a:avLst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14400" y="377647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performance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291840" y="3776472"/>
            <a:ext cx="2194560" cy="512064"/>
          </a:xfrm>
          <a:prstGeom prst="roundRect">
            <a:avLst>
              <a:gd name="adj" fmla="val 50000"/>
            </a:avLst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3291840" y="377647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candidates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14400" y="4489704"/>
            <a:ext cx="2194560" cy="512064"/>
          </a:xfrm>
          <a:prstGeom prst="roundRect">
            <a:avLst>
              <a:gd name="adj" fmla="val 50000"/>
            </a:avLst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914400" y="448970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candidates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291840" y="4489704"/>
            <a:ext cx="2194560" cy="512064"/>
          </a:xfrm>
          <a:prstGeom prst="roundRect">
            <a:avLst>
              <a:gd name="adj" fmla="val 50000"/>
            </a:avLst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3291840" y="448970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 results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14400" y="5202936"/>
            <a:ext cx="2194560" cy="512064"/>
          </a:xfrm>
          <a:prstGeom prst="roundRect">
            <a:avLst>
              <a:gd name="adj" fmla="val 50000"/>
            </a:avLst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914400" y="520293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results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291840" y="5202936"/>
            <a:ext cx="2194560" cy="512064"/>
          </a:xfrm>
          <a:prstGeom prst="roundRect">
            <a:avLst>
              <a:gd name="adj" fmla="val 50000"/>
            </a:avLst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3291840" y="520293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distribution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91072" y="1828800"/>
            <a:ext cx="566928" cy="566928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1" descr="C:\Users\MAURICIO\AppData\Local\Temp\claude\C--Users-MAURICIO-Documents-student-portal\fd8d7b10-5065-4e55-91f9-113914a9b786\scratchpad\deck\icons\dumb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135" y="1964863"/>
            <a:ext cx="294803" cy="294803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040880" y="1783080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Fitness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7040880" y="2112264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School-defined events and standards; results scored automatically and kept separate from academic grades.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291072" y="292608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2" descr="C:\Users\MAURICIO\AppData\Local\Temp\claude\C--Users-MAURICIO-Documents-student-portal\fd8d7b10-5065-4e55-91f9-113914a9b786\scratchpad\deck\icons\wallet-car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135" y="3062143"/>
            <a:ext cx="294803" cy="294803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040880" y="2880360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7040880" y="3209544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administrator charges an expense to a whole class or chosen candidates — never twice; mistakes voided with a reason.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291072" y="4023360"/>
            <a:ext cx="566928" cy="566928"/>
          </a:xfrm>
          <a:prstGeom prst="ellipse">
            <a:avLst/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3" descr="C:\Users\MAURICIO\AppData\Local\Temp\claude\C--Users-MAURICIO-Documents-student-portal\fd8d7b10-5065-4e55-91f9-113914a9b786\scratchpad\deck\icons\his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7135" y="4159423"/>
            <a:ext cx="294803" cy="294803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040880" y="3977640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History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7040880" y="4306824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Sign-ins, record and grade changes, exam publishing and result release — searchable by person, action and date.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6291072" y="5120640"/>
            <a:ext cx="566928" cy="566928"/>
          </a:xfrm>
          <a:prstGeom prst="ellipse">
            <a:avLst/>
          </a:prstGeom>
          <a:solidFill>
            <a:srgbClr val="1447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4" descr="C:\Users\MAURICIO\AppData\Local\Temp\claude\C--Users-MAURICIO-Documents-student-portal\fd8d7b10-5065-4e55-91f9-113914a9b786\scratchpad\deck\icons\ho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7135" y="5256703"/>
            <a:ext cx="294803" cy="294803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7040880" y="5074920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Portal</a:t>
            </a:r>
            <a:endParaRPr lang="en-US" sz="1500" dirty="0"/>
          </a:p>
        </p:txBody>
      </p:sp>
      <p:sp>
        <p:nvSpPr>
          <p:cNvPr id="42" name="Text 35"/>
          <p:cNvSpPr txBox="1"/>
          <p:nvPr/>
        </p:nvSpPr>
        <p:spPr>
          <a:xfrm>
            <a:off x="7040880" y="5404104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sees only their own exams, grades, standing and records.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Everyday Work Improves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Monitoring System  ·  System Proposal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36576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manual process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the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Examinations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4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Printed papers, checked by hand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3C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Taken on tablets; objective items scored instantly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computation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4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hand or in spreadsheets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3C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from the school’s own weights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Struggling candidates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4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Noticed when final grades are prepared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3C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as soon as scores are recorded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4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 across files and offices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3C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linked record for each candidate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4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Compiled by hand for each 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3C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Eight reports, filtered and printed in minutes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changes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4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to trace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3C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Person, time and reason always recorded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integrity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4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paper for everyone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3C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Shuffled questions, random sets, live 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Privacy and What the School Needs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Monitoring System  ·  System Proposal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337560" cy="2011680"/>
          </a:xfrm>
          <a:prstGeom prst="roundRect">
            <a:avLst>
              <a:gd name="adj" fmla="val 5455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2039112"/>
            <a:ext cx="530352" cy="530352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C:\Users\MAURICIO\AppData\Local\Temp\claude\C--Users-MAURICIO-Documents-student-portal\fd8d7b10-5065-4e55-91f9-113914a9b786\scratchpad\deck\icons\key-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396" y="2166396"/>
            <a:ext cx="275783" cy="27578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084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access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2697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accounts; access by role and assignment. New staff passwords must be changed at first sign-in.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783080"/>
            <a:ext cx="3337560" cy="2011680"/>
          </a:xfrm>
          <a:prstGeom prst="roundRect">
            <a:avLst>
              <a:gd name="adj" fmla="val 5455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62272" y="2039112"/>
            <a:ext cx="530352" cy="530352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C:\Users\MAURICIO\AppData\Local\Temp\claude\C--Users-MAURICIO-Documents-student-portal\fd8d7b10-5065-4e55-91f9-113914a9b786\scratchpad\deck\icons\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556" y="2166396"/>
            <a:ext cx="275783" cy="27578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20640" y="2084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exams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62272" y="2697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keys never reach tablets. Limits enforced by the server. Results hidden until released.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977640"/>
            <a:ext cx="3337560" cy="2011680"/>
          </a:xfrm>
          <a:prstGeom prst="roundRect">
            <a:avLst>
              <a:gd name="adj" fmla="val 5455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96112" y="4233672"/>
            <a:ext cx="530352" cy="530352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C:\Users\MAURICIO\AppData\Local\Temp\claude\C--Users-MAURICIO-Documents-student-portal\fd8d7b10-5065-4e55-91f9-113914a9b786\scratchpad\deck\icons\shield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396" y="4360956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54480" y="4279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96112" y="48920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failed sign-ins and code guesses are slowed. Candidates never see others’ records.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206240" y="3977640"/>
            <a:ext cx="3337560" cy="2011680"/>
          </a:xfrm>
          <a:prstGeom prst="roundRect">
            <a:avLst>
              <a:gd name="adj" fmla="val 5455"/>
            </a:avLst>
          </a:prstGeom>
          <a:solidFill>
            <a:srgbClr val="F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462272" y="4233672"/>
            <a:ext cx="530352" cy="530352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C:\Users\MAURICIO\AppData\Local\Temp\claude\C--Users-MAURICIO-Documents-student-portal\fd8d7b10-5065-4e55-91f9-113914a9b786\scratchpad\deck\icons\his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9556" y="4360956"/>
            <a:ext cx="275783" cy="27578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120640" y="4279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changes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462272" y="48920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8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keep the old value, new value, person and reason.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863840" y="1783080"/>
            <a:ext cx="3685032" cy="4206240"/>
          </a:xfrm>
          <a:prstGeom prst="roundRect">
            <a:avLst>
              <a:gd name="adj" fmla="val 2978"/>
            </a:avLst>
          </a:prstGeom>
          <a:solidFill>
            <a:srgbClr val="0B2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813816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school needs</a:t>
            </a:r>
            <a:endParaRPr lang="en-US" sz="1700" dirty="0"/>
          </a:p>
        </p:txBody>
      </p:sp>
      <p:sp>
        <p:nvSpPr>
          <p:cNvPr id="28" name="Shape 22"/>
          <p:cNvSpPr/>
          <p:nvPr/>
        </p:nvSpPr>
        <p:spPr>
          <a:xfrm>
            <a:off x="8138160" y="2560320"/>
            <a:ext cx="566928" cy="566928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C:\Users\MAURICIO\AppData\Local\Temp\claude\C--Users-MAURICIO-Documents-student-portal\fd8d7b10-5065-4e55-91f9-113914a9b786\scratchpad\deck\icons\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4223" y="2696383"/>
            <a:ext cx="294803" cy="29480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869680" y="254203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school server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8869680" y="28529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system and its database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138160" y="3639312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C:\Users\MAURICIO\AppData\Local\Temp\claude\C--Users-MAURICIO-Documents-student-portal\fd8d7b10-5065-4e55-91f9-113914a9b786\scratchpad\deck\icons\wif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4223" y="3775375"/>
            <a:ext cx="294803" cy="294803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869680" y="362102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network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8869680" y="3931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or LAN to classrooms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8138160" y="4718304"/>
            <a:ext cx="566928" cy="566928"/>
          </a:xfrm>
          <a:prstGeom prst="ellipse">
            <a:avLst/>
          </a:prstGeom>
          <a:solidFill>
            <a:srgbClr val="1D6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6" descr="C:\Users\MAURICIO\AppData\Local\Temp\claude\C--Users-MAURICIO-Documents-student-portal\fd8d7b10-5065-4e55-91f9-113914a9b786\scratchpad\deck\icons\tabl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4223" y="4854367"/>
            <a:ext cx="294803" cy="294803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869680" y="470001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8869680" y="50109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and tablets with a browser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645920"/>
            <a:ext cx="5943600" cy="5943600"/>
          </a:xfrm>
          <a:prstGeom prst="ellipse">
            <a:avLst/>
          </a:prstGeom>
          <a:solidFill>
            <a:srgbClr val="14472F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solidFill>
            <a:srgbClr val="14472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C:\Users\MAURICIO\Documents\student portal\public\branding\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914400"/>
            <a:ext cx="1371600" cy="1371600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2606040"/>
            <a:ext cx="9994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3611880"/>
            <a:ext cx="9079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secure, reliable place for candidate records, grades, examinations, fitness results and expenses — on the school’s own network.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1724</Words>
  <Application>Microsoft Office PowerPoint</Application>
  <PresentationFormat>Widescreen</PresentationFormat>
  <Paragraphs>302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ServLife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Monitoring System — System Proposal</dc:title>
  <dc:subject>PptxGenJS Presentation</dc:subject>
  <dc:creator>PptxGenJS</dc:creator>
  <cp:lastModifiedBy>HONEYROSE SULIVA</cp:lastModifiedBy>
  <cp:revision>2</cp:revision>
  <dcterms:created xsi:type="dcterms:W3CDTF">2026-10-01T10:42:00Z</dcterms:created>
  <dcterms:modified xsi:type="dcterms:W3CDTF">2026-10-01T10:45:03Z</dcterms:modified>
</cp:coreProperties>
</file>