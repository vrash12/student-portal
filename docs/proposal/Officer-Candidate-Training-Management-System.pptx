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60139b1-2f76-17f7-8129-0c57d7b3bfaf}">
          <p14:sldIdLst>
            <p14:sldId id="256"/>
            <p14:sldId id="257"/>
            <p14:sldId id="258"/>
          </p14:sldIdLst>
        </p14:section>
        <p14:section name="The system" id="{e36677e0-bb42-ceb9-f0c3-f889f5d1a656}">
          <p14:sldIdLst>
            <p14:sldId id="259"/>
            <p14:sldId id="260"/>
            <p14:sldId id="261"/>
            <p14:sldId id="262"/>
          </p14:sldIdLst>
        </p14:section>
        <p14:section name="Performance" id="{e375d1f5-3113-172f-2ada-153613c0699d}">
          <p14:sldIdLst>
            <p14:sldId id="263"/>
            <p14:sldId id="264"/>
          </p14:sldIdLst>
        </p14:section>
        <p14:section name="Wrap-up" id="{d891e9d8-b8ae-37bf-042d-62a0780549db}">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system: one place for candidate records, grades, tablet examinations and qualification, running on the internal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replaces scattered records with one authoritative source, calculates standing as soon as scores are recorded, and moves quizzes and examinations onto tablets.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is permission-based and checked on the server. Instructors see only their assigned classes; candidates see only their own records and never a class rank.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administrator dashboard: counts by standing, the distribution bar, and the candidates who need attention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Instructors record scores directly. A single grade-calculation service applies the weights and thresholds; standing is always shown in words as well as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examination lifecycle. Emphasise that the server is authoritative for time limits and scoring, and that answers are never broadcast during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candidate portal is an installable web app. Answers autosave; if the connection drops they are kept on the device and clearly marked as not yet saved to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qualification engine combines subject grades, the latest fitness test, merits and demerits, and attendance into Qualified, Not Qualified or Pending, with the reasons shown. The five areas in the demo are placeholders until the official grading SOP is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candidate profile brings the academic and performance record together. Instructors see it only for candidates in the classes they teach.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and operations: internal deployment, server-side authorisation, an audit trail, backups, and a deliberately simple hosting footprint.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planned milestones are done and the automated suite passes. Remaining work depends on the institution: the official grading rules, physical tablet trials, and the production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then switch to the live demonstration following docs/demo-script.md.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48840"/>
            <a:ext cx="8778240" cy="182880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r>
              <a:rPr lang="en-US" sz="4400" b="1" dirty="0">
                <a:solidFill>
                  <a:schemeClr val="bg1"/>
                </a:solidFill>
                <a:latin typeface="Cambria" pitchFamily="34" charset="0"/>
                <a:ea typeface="Cambria" pitchFamily="34" charset="-122"/>
                <a:cs typeface="Cambria" pitchFamily="34" charset="-120"/>
              </a:rPr>
              <a:t>Title</a:t>
            </a:r>
            <a:endParaRPr lang="en-US" sz="4400" dirty="0"/>
          </a:p>
        </p:txBody>
      </p:sp>
      <p:sp>
        <p:nvSpPr>
          <p:cNvPr id="3" name="Text 0"/>
          <p:cNvSpPr/>
          <p:nvPr>
            <p:ph idx="101" type="body" hasCustomPrompt="1"/>
          </p:nvPr>
        </p:nvSpPr>
        <p:spPr>
          <a:xfrm>
            <a:off x="640080" y="4160520"/>
            <a:ext cx="7863840" cy="1005840"/>
          </a:xfrm>
          <a:prstGeom prst="rect">
            <a:avLst/>
          </a:prstGeom>
          <a:noFill/>
          <a:ln/>
        </p:spPr>
        <p:txBody>
          <a:bodyPr wrap="square" rtlCol="0"/>
          <a:lstStyle>
            <a:lvl1pPr algn="l" indent="0" marL="0">
              <a:buNone/>
              <a:defRPr lang="en-US" sz="1800" dirty="0">
                <a:solidFill>
                  <a:srgbClr val="D7E3DC"/>
                </a:solidFill>
              </a:defRPr>
            </a:lvl1pPr>
          </a:lstStyle>
          <a:p>
            <a:pPr algn="l" indent="0" marL="0">
              <a:buNone/>
            </a:pPr>
            <a:r>
              <a:rPr lang="en-US" sz="1800" dirty="0">
                <a:solidFill>
                  <a:srgbClr val="D7E3DC"/>
                </a:solidFill>
              </a:rPr>
              <a:t>Subtitle</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777240"/>
            <a:ext cx="10911535" cy="73152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r>
              <a:rPr lang="en-US" sz="3200" b="1" dirty="0">
                <a:solidFill>
                  <a:schemeClr val="tx2"/>
                </a:solidFill>
                <a:latin typeface="Cambria" pitchFamily="34" charset="0"/>
                <a:ea typeface="Cambria" pitchFamily="34" charset="-122"/>
                <a:cs typeface="Cambria" pitchFamily="34" charset="-120"/>
              </a:rPr>
              <a:t>Title</a:t>
            </a:r>
            <a:endParaRPr lang="en-US" sz="3200" dirty="0"/>
          </a:p>
        </p:txBody>
      </p:sp>
      <p:sp>
        <p:nvSpPr>
          <p:cNvPr id="3" name="Text 0"/>
          <p:cNvSpPr txBox="1"/>
          <p:nvPr/>
        </p:nvSpPr>
        <p:spPr>
          <a:xfrm>
            <a:off x="640080" y="6400800"/>
            <a:ext cx="6400800" cy="274320"/>
          </a:xfrm>
          <a:prstGeom prst="rect">
            <a:avLst/>
          </a:prstGeom>
          <a:noFill/>
          <a:ln/>
        </p:spPr>
        <p:txBody>
          <a:bodyPr wrap="square" lIns="0" tIns="0" rIns="0" bIns="0" rtlCol="0" anchor="ctr"/>
          <a:lstStyle/>
          <a:p>
            <a:pPr indent="0" marL="0">
              <a:buNone/>
            </a:pPr>
            <a:r>
              <a:rPr lang="en-US" sz="1000" dirty="0">
                <a:solidFill>
                  <a:schemeClr val="accent6"/>
                </a:solidFill>
              </a:rPr>
              <a:t>Officer Candidate Training Management System</a:t>
            </a:r>
            <a:endParaRPr lang="en-US" sz="1000" dirty="0"/>
          </a:p>
        </p:txBody>
      </p:sp>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640080" y="164592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SYSTEM OVERVIEW · OCTOBER 2026</a:t>
            </a:r>
            <a:endParaRPr lang="en-US" sz="1100" dirty="0"/>
          </a:p>
        </p:txBody>
      </p:sp>
      <p:sp>
        <p:nvSpPr>
          <p:cNvPr id="3" name="Text 0"/>
          <p:cNvSpPr/>
          <p:nvPr>
            <p:ph idx="100" type="title" hasCustomPrompt="1"/>
          </p:nvPr>
        </p:nvSpPr>
        <p:spPr>
          <a:xfrm>
            <a:off x="640080" y="2148840"/>
            <a:ext cx="8778240" cy="182880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Officer Candidate Training Management System</a:t>
            </a:r>
            <a:endParaRPr lang="en-US" sz="4400" dirty="0"/>
          </a:p>
        </p:txBody>
      </p:sp>
      <p:sp>
        <p:nvSpPr>
          <p:cNvPr id="4" name="Text 0"/>
          <p:cNvSpPr/>
          <p:nvPr>
            <p:ph idx="101" type="body" hasCustomPrompt="1"/>
          </p:nvPr>
        </p:nvSpPr>
        <p:spPr>
          <a:xfrm>
            <a:off x="640080" y="4160520"/>
            <a:ext cx="7863840" cy="1005840"/>
          </a:xfrm>
          <a:prstGeom prst="rect">
            <a:avLst/>
          </a:prstGeom>
          <a:noFill/>
          <a:ln/>
        </p:spPr>
        <p:txBody>
          <a:bodyPr wrap="square" lIns="0" tIns="0" rIns="0" bIns="0" rtlCol="0" anchor="t"/>
          <a:lstStyle/>
          <a:p>
            <a:pPr algn="l" indent="0" marL="0">
              <a:buNone/>
            </a:pPr>
            <a:r>
              <a:rPr lang="en-US" sz="1800" dirty="0">
                <a:solidFill>
                  <a:srgbClr val="D7E3DC"/>
                </a:solidFill>
              </a:rPr>
              <a:t>Academic monitoring, examinations and candidate performance — on the institution's own network.</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640080" y="41148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PURPOSE</a:t>
            </a:r>
            <a:endParaRPr lang="en-US" sz="1100" dirty="0"/>
          </a:p>
        </p:txBody>
      </p:sp>
      <p:sp>
        <p:nvSpPr>
          <p:cNvPr id="3" name="Text 0"/>
          <p:cNvSpPr/>
          <p:nvPr>
            <p:ph idx="100" type="title" hasCustomPrompt="1"/>
          </p:nvPr>
        </p:nvSpPr>
        <p:spPr>
          <a:xfrm>
            <a:off x="640080" y="777240"/>
            <a:ext cx="10911535" cy="73152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One trusted record of every candidate</a:t>
            </a:r>
            <a:endParaRPr lang="en-US" sz="3200" dirty="0"/>
          </a:p>
        </p:txBody>
      </p:sp>
      <p:sp>
        <p:nvSpPr>
          <p:cNvPr id="4" name="Icon circle"/>
          <p:cNvSpPr/>
          <p:nvPr/>
        </p:nvSpPr>
        <p:spPr>
          <a:xfrm>
            <a:off x="640080" y="2377440"/>
            <a:ext cx="822960" cy="822960"/>
          </a:xfrm>
          <a:prstGeom prst="ellipse">
            <a:avLst/>
          </a:prstGeom>
          <a:solidFill>
            <a:schemeClr val="bg2"/>
          </a:solidFill>
          <a:ln/>
        </p:spPr>
      </p:sp>
      <p:pic>
        <p:nvPicPr>
          <p:cNvPr id="5" name="Icon LuFiles" descr="preencoded.png">    </p:cNvPr>
          <p:cNvPicPr>
            <a:picLocks noChangeAspect="1"/>
          </p:cNvPicPr>
          <p:nvPr/>
        </p:nvPicPr>
        <p:blipFill>
          <a:blip r:embed="rId1"/>
          <a:stretch>
            <a:fillRect/>
          </a:stretch>
        </p:blipFill>
        <p:spPr>
          <a:xfrm>
            <a:off x="845820" y="2583180"/>
            <a:ext cx="411480" cy="411480"/>
          </a:xfrm>
          <a:prstGeom prst="rect">
            <a:avLst/>
          </a:prstGeom>
        </p:spPr>
      </p:pic>
      <p:sp>
        <p:nvSpPr>
          <p:cNvPr id="6" name="Text 3"/>
          <p:cNvSpPr txBox="1"/>
          <p:nvPr/>
        </p:nvSpPr>
        <p:spPr>
          <a:xfrm>
            <a:off x="640080" y="3520440"/>
            <a:ext cx="3291840" cy="5029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One source of truth</a:t>
            </a:r>
            <a:endParaRPr lang="en-US" sz="2200" dirty="0"/>
          </a:p>
        </p:txBody>
      </p:sp>
      <p:sp>
        <p:nvSpPr>
          <p:cNvPr id="7" name="Text 4"/>
          <p:cNvSpPr txBox="1"/>
          <p:nvPr/>
        </p:nvSpPr>
        <p:spPr>
          <a:xfrm>
            <a:off x="640080" y="4114800"/>
            <a:ext cx="3291840" cy="1463040"/>
          </a:xfrm>
          <a:prstGeom prst="rect">
            <a:avLst/>
          </a:prstGeom>
          <a:noFill/>
          <a:ln/>
        </p:spPr>
        <p:txBody>
          <a:bodyPr wrap="square" lIns="0" tIns="0" rIns="0" bIns="0" rtlCol="0" anchor="t"/>
          <a:lstStyle/>
          <a:p>
            <a:pPr indent="0" marL="0">
              <a:buNone/>
            </a:pPr>
            <a:r>
              <a:rPr lang="en-US" sz="1600" dirty="0">
                <a:solidFill>
                  <a:schemeClr val="accent6"/>
                </a:solidFill>
              </a:rPr>
              <a:t>Candidates, classes, subjects, grades and examinations kept together instead of in separate files.</a:t>
            </a:r>
            <a:endParaRPr lang="en-US" sz="1600" dirty="0"/>
          </a:p>
        </p:txBody>
      </p:sp>
      <p:sp>
        <p:nvSpPr>
          <p:cNvPr id="8" name="Icon circle"/>
          <p:cNvSpPr/>
          <p:nvPr/>
        </p:nvSpPr>
        <p:spPr>
          <a:xfrm>
            <a:off x="4343400" y="2377440"/>
            <a:ext cx="822960" cy="822960"/>
          </a:xfrm>
          <a:prstGeom prst="ellipse">
            <a:avLst/>
          </a:prstGeom>
          <a:solidFill>
            <a:schemeClr val="bg2"/>
          </a:solidFill>
          <a:ln/>
        </p:spPr>
      </p:sp>
      <p:pic>
        <p:nvPicPr>
          <p:cNvPr id="9" name="Icon LuTriangleAlert" descr="preencoded.png">    </p:cNvPr>
          <p:cNvPicPr>
            <a:picLocks noChangeAspect="1"/>
          </p:cNvPicPr>
          <p:nvPr/>
        </p:nvPicPr>
        <p:blipFill>
          <a:blip r:embed="rId2"/>
          <a:stretch>
            <a:fillRect/>
          </a:stretch>
        </p:blipFill>
        <p:spPr>
          <a:xfrm>
            <a:off x="4549140" y="2583180"/>
            <a:ext cx="411480" cy="411480"/>
          </a:xfrm>
          <a:prstGeom prst="rect">
            <a:avLst/>
          </a:prstGeom>
        </p:spPr>
      </p:pic>
      <p:sp>
        <p:nvSpPr>
          <p:cNvPr id="10" name="Text 6"/>
          <p:cNvSpPr txBox="1"/>
          <p:nvPr/>
        </p:nvSpPr>
        <p:spPr>
          <a:xfrm>
            <a:off x="4343400" y="3520440"/>
            <a:ext cx="3291840" cy="5029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Problems seen early</a:t>
            </a:r>
            <a:endParaRPr lang="en-US" sz="2200" dirty="0"/>
          </a:p>
        </p:txBody>
      </p:sp>
      <p:sp>
        <p:nvSpPr>
          <p:cNvPr id="11" name="Text 7"/>
          <p:cNvSpPr txBox="1"/>
          <p:nvPr/>
        </p:nvSpPr>
        <p:spPr>
          <a:xfrm>
            <a:off x="4343400" y="4114800"/>
            <a:ext cx="3291840" cy="1463040"/>
          </a:xfrm>
          <a:prstGeom prst="rect">
            <a:avLst/>
          </a:prstGeom>
          <a:noFill/>
          <a:ln/>
        </p:spPr>
        <p:txBody>
          <a:bodyPr wrap="square" lIns="0" tIns="0" rIns="0" bIns="0" rtlCol="0" anchor="t"/>
          <a:lstStyle/>
          <a:p>
            <a:pPr indent="0" marL="0">
              <a:buNone/>
            </a:pPr>
            <a:r>
              <a:rPr lang="en-US" sz="1600" dirty="0">
                <a:solidFill>
                  <a:schemeClr val="accent6"/>
                </a:solidFill>
              </a:rPr>
              <a:t>Each candidate's standing is calculated as scores arrive, so those at risk are flagged before the period ends.</a:t>
            </a:r>
            <a:endParaRPr lang="en-US" sz="1600" dirty="0"/>
          </a:p>
        </p:txBody>
      </p:sp>
      <p:sp>
        <p:nvSpPr>
          <p:cNvPr id="12" name="Icon circle"/>
          <p:cNvSpPr/>
          <p:nvPr/>
        </p:nvSpPr>
        <p:spPr>
          <a:xfrm>
            <a:off x="8046720" y="2377440"/>
            <a:ext cx="822960" cy="822960"/>
          </a:xfrm>
          <a:prstGeom prst="ellipse">
            <a:avLst/>
          </a:prstGeom>
          <a:solidFill>
            <a:schemeClr val="bg2"/>
          </a:solidFill>
          <a:ln/>
        </p:spPr>
      </p:sp>
      <p:pic>
        <p:nvPicPr>
          <p:cNvPr id="13" name="Icon LuTablet" descr="preencoded.png">    </p:cNvPr>
          <p:cNvPicPr>
            <a:picLocks noChangeAspect="1"/>
          </p:cNvPicPr>
          <p:nvPr/>
        </p:nvPicPr>
        <p:blipFill>
          <a:blip r:embed="rId3"/>
          <a:stretch>
            <a:fillRect/>
          </a:stretch>
        </p:blipFill>
        <p:spPr>
          <a:xfrm>
            <a:off x="8252460" y="2583180"/>
            <a:ext cx="411480" cy="411480"/>
          </a:xfrm>
          <a:prstGeom prst="rect">
            <a:avLst/>
          </a:prstGeom>
        </p:spPr>
      </p:pic>
      <p:sp>
        <p:nvSpPr>
          <p:cNvPr id="14" name="Text 9"/>
          <p:cNvSpPr txBox="1"/>
          <p:nvPr/>
        </p:nvSpPr>
        <p:spPr>
          <a:xfrm>
            <a:off x="8046720" y="3520440"/>
            <a:ext cx="3291840" cy="5029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Examinations on tablets</a:t>
            </a:r>
            <a:endParaRPr lang="en-US" sz="2200" dirty="0"/>
          </a:p>
        </p:txBody>
      </p:sp>
      <p:sp>
        <p:nvSpPr>
          <p:cNvPr id="15" name="Text 10"/>
          <p:cNvSpPr txBox="1"/>
          <p:nvPr/>
        </p:nvSpPr>
        <p:spPr>
          <a:xfrm>
            <a:off x="8046720" y="4114800"/>
            <a:ext cx="3291840" cy="1463040"/>
          </a:xfrm>
          <a:prstGeom prst="rect">
            <a:avLst/>
          </a:prstGeom>
          <a:noFill/>
          <a:ln/>
        </p:spPr>
        <p:txBody>
          <a:bodyPr wrap="square" lIns="0" tIns="0" rIns="0" bIns="0" rtlCol="0" anchor="t"/>
          <a:lstStyle/>
          <a:p>
            <a:pPr indent="0" marL="0">
              <a:buNone/>
            </a:pPr>
            <a:r>
              <a:rPr lang="en-US" sz="1600" dirty="0">
                <a:solidFill>
                  <a:schemeClr val="accent6"/>
                </a:solidFill>
              </a:rPr>
              <a:t>Quizzes and examinations taken on issued tablets, saved as candidates answer and scored by the server.</a:t>
            </a:r>
            <a:endParaRPr lang="en-US" sz="1600" dirty="0"/>
          </a:p>
        </p:txBody>
      </p:sp>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640080" y="41148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WHO USES IT</a:t>
            </a:r>
            <a:endParaRPr lang="en-US" sz="1100" dirty="0"/>
          </a:p>
        </p:txBody>
      </p:sp>
      <p:sp>
        <p:nvSpPr>
          <p:cNvPr id="3" name="Text 0"/>
          <p:cNvSpPr/>
          <p:nvPr>
            <p:ph idx="100" type="title" hasCustomPrompt="1"/>
          </p:nvPr>
        </p:nvSpPr>
        <p:spPr>
          <a:xfrm>
            <a:off x="640080" y="777240"/>
            <a:ext cx="10911535" cy="73152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Four roles, each with only what it needs</a:t>
            </a:r>
            <a:endParaRPr lang="en-US" sz="3200" dirty="0"/>
          </a:p>
        </p:txBody>
      </p:sp>
      <p:sp>
        <p:nvSpPr>
          <p:cNvPr id="4" name="Role card"/>
          <p:cNvSpPr/>
          <p:nvPr/>
        </p:nvSpPr>
        <p:spPr>
          <a:xfrm>
            <a:off x="640080" y="1828800"/>
            <a:ext cx="5303520" cy="1737360"/>
          </a:xfrm>
          <a:prstGeom prst="roundRect">
            <a:avLst>
              <a:gd name="adj" fmla="val 6316"/>
            </a:avLst>
          </a:prstGeom>
          <a:solidFill>
            <a:schemeClr val="bg2"/>
          </a:solidFill>
          <a:ln/>
        </p:spPr>
      </p:sp>
      <p:sp>
        <p:nvSpPr>
          <p:cNvPr id="5" name="Icon circle"/>
          <p:cNvSpPr/>
          <p:nvPr/>
        </p:nvSpPr>
        <p:spPr>
          <a:xfrm>
            <a:off x="960120" y="2194560"/>
            <a:ext cx="685800" cy="685800"/>
          </a:xfrm>
          <a:prstGeom prst="ellipse">
            <a:avLst/>
          </a:prstGeom>
          <a:solidFill>
            <a:schemeClr val="bg1"/>
          </a:solidFill>
          <a:ln/>
        </p:spPr>
      </p:sp>
      <p:pic>
        <p:nvPicPr>
          <p:cNvPr id="6" name="Icon LuUserCog" descr="preencoded.png">    </p:cNvPr>
          <p:cNvPicPr>
            <a:picLocks noChangeAspect="1"/>
          </p:cNvPicPr>
          <p:nvPr/>
        </p:nvPicPr>
        <p:blipFill>
          <a:blip r:embed="rId1"/>
          <a:stretch>
            <a:fillRect/>
          </a:stretch>
        </p:blipFill>
        <p:spPr>
          <a:xfrm>
            <a:off x="1131570" y="2366010"/>
            <a:ext cx="342900" cy="342900"/>
          </a:xfrm>
          <a:prstGeom prst="rect">
            <a:avLst/>
          </a:prstGeom>
        </p:spPr>
      </p:pic>
      <p:sp>
        <p:nvSpPr>
          <p:cNvPr id="7" name="Text 4"/>
          <p:cNvSpPr txBox="1"/>
          <p:nvPr/>
        </p:nvSpPr>
        <p:spPr>
          <a:xfrm>
            <a:off x="1874520" y="2148840"/>
            <a:ext cx="384048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Admin</a:t>
            </a:r>
            <a:endParaRPr lang="en-US" sz="2000" dirty="0"/>
          </a:p>
        </p:txBody>
      </p:sp>
      <p:sp>
        <p:nvSpPr>
          <p:cNvPr id="8" name="Text 5"/>
          <p:cNvSpPr txBox="1"/>
          <p:nvPr/>
        </p:nvSpPr>
        <p:spPr>
          <a:xfrm>
            <a:off x="1874520" y="2606040"/>
            <a:ext cx="3840480" cy="777240"/>
          </a:xfrm>
          <a:prstGeom prst="rect">
            <a:avLst/>
          </a:prstGeom>
          <a:noFill/>
          <a:ln/>
        </p:spPr>
        <p:txBody>
          <a:bodyPr wrap="square" lIns="0" tIns="0" rIns="0" bIns="0" rtlCol="0" anchor="t"/>
          <a:lstStyle/>
          <a:p>
            <a:pPr indent="0" marL="0">
              <a:buNone/>
            </a:pPr>
            <a:r>
              <a:rPr lang="en-US" sz="1400" dirty="0">
                <a:solidFill>
                  <a:schemeClr val="accent6"/>
                </a:solidFill>
              </a:rPr>
              <a:t>Accounts, roles, periods, classes, subjects, grading rules and expenses.</a:t>
            </a:r>
            <a:endParaRPr lang="en-US" sz="1400" dirty="0"/>
          </a:p>
        </p:txBody>
      </p:sp>
      <p:sp>
        <p:nvSpPr>
          <p:cNvPr id="9" name="Role card"/>
          <p:cNvSpPr/>
          <p:nvPr/>
        </p:nvSpPr>
        <p:spPr>
          <a:xfrm>
            <a:off x="6217920" y="1828800"/>
            <a:ext cx="5303520" cy="1737360"/>
          </a:xfrm>
          <a:prstGeom prst="roundRect">
            <a:avLst>
              <a:gd name="adj" fmla="val 6316"/>
            </a:avLst>
          </a:prstGeom>
          <a:solidFill>
            <a:schemeClr val="bg2"/>
          </a:solidFill>
          <a:ln/>
        </p:spPr>
      </p:sp>
      <p:sp>
        <p:nvSpPr>
          <p:cNvPr id="10" name="Icon circle"/>
          <p:cNvSpPr/>
          <p:nvPr/>
        </p:nvSpPr>
        <p:spPr>
          <a:xfrm>
            <a:off x="6537960" y="2194560"/>
            <a:ext cx="685800" cy="685800"/>
          </a:xfrm>
          <a:prstGeom prst="ellipse">
            <a:avLst/>
          </a:prstGeom>
          <a:solidFill>
            <a:schemeClr val="bg1"/>
          </a:solidFill>
          <a:ln/>
        </p:spPr>
      </p:sp>
      <p:pic>
        <p:nvPicPr>
          <p:cNvPr id="11" name="Icon LuShieldCheck" descr="preencoded.png">    </p:cNvPr>
          <p:cNvPicPr>
            <a:picLocks noChangeAspect="1"/>
          </p:cNvPicPr>
          <p:nvPr/>
        </p:nvPicPr>
        <p:blipFill>
          <a:blip r:embed="rId2"/>
          <a:stretch>
            <a:fillRect/>
          </a:stretch>
        </p:blipFill>
        <p:spPr>
          <a:xfrm>
            <a:off x="6709410" y="2366010"/>
            <a:ext cx="342900" cy="342900"/>
          </a:xfrm>
          <a:prstGeom prst="rect">
            <a:avLst/>
          </a:prstGeom>
        </p:spPr>
      </p:pic>
      <p:sp>
        <p:nvSpPr>
          <p:cNvPr id="12" name="Text 8"/>
          <p:cNvSpPr txBox="1"/>
          <p:nvPr/>
        </p:nvSpPr>
        <p:spPr>
          <a:xfrm>
            <a:off x="7452360" y="2148840"/>
            <a:ext cx="384048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Academic Administrator</a:t>
            </a:r>
            <a:endParaRPr lang="en-US" sz="2000" dirty="0"/>
          </a:p>
        </p:txBody>
      </p:sp>
      <p:sp>
        <p:nvSpPr>
          <p:cNvPr id="13" name="Text 9"/>
          <p:cNvSpPr txBox="1"/>
          <p:nvPr/>
        </p:nvSpPr>
        <p:spPr>
          <a:xfrm>
            <a:off x="7452360" y="2606040"/>
            <a:ext cx="3840480" cy="777240"/>
          </a:xfrm>
          <a:prstGeom prst="rect">
            <a:avLst/>
          </a:prstGeom>
          <a:noFill/>
          <a:ln/>
        </p:spPr>
        <p:txBody>
          <a:bodyPr wrap="square" lIns="0" tIns="0" rIns="0" bIns="0" rtlCol="0" anchor="t"/>
          <a:lstStyle/>
          <a:p>
            <a:pPr indent="0" marL="0">
              <a:buNone/>
            </a:pPr>
            <a:r>
              <a:rPr lang="en-US" sz="1400" dirty="0">
                <a:solidFill>
                  <a:schemeClr val="accent6"/>
                </a:solidFill>
              </a:rPr>
              <a:t>Academic records, monitoring, qualification and reports.</a:t>
            </a:r>
            <a:endParaRPr lang="en-US" sz="1400" dirty="0"/>
          </a:p>
        </p:txBody>
      </p:sp>
      <p:sp>
        <p:nvSpPr>
          <p:cNvPr id="14" name="Role card"/>
          <p:cNvSpPr/>
          <p:nvPr/>
        </p:nvSpPr>
        <p:spPr>
          <a:xfrm>
            <a:off x="640080" y="3840480"/>
            <a:ext cx="5303520" cy="1737360"/>
          </a:xfrm>
          <a:prstGeom prst="roundRect">
            <a:avLst>
              <a:gd name="adj" fmla="val 6316"/>
            </a:avLst>
          </a:prstGeom>
          <a:solidFill>
            <a:schemeClr val="bg2"/>
          </a:solidFill>
          <a:ln/>
        </p:spPr>
      </p:sp>
      <p:sp>
        <p:nvSpPr>
          <p:cNvPr id="15" name="Icon circle"/>
          <p:cNvSpPr/>
          <p:nvPr/>
        </p:nvSpPr>
        <p:spPr>
          <a:xfrm>
            <a:off x="960120" y="4206240"/>
            <a:ext cx="685800" cy="685800"/>
          </a:xfrm>
          <a:prstGeom prst="ellipse">
            <a:avLst/>
          </a:prstGeom>
          <a:solidFill>
            <a:schemeClr val="bg1"/>
          </a:solidFill>
          <a:ln/>
        </p:spPr>
      </p:sp>
      <p:pic>
        <p:nvPicPr>
          <p:cNvPr id="16" name="Icon LuGraduationCap" descr="preencoded.png">    </p:cNvPr>
          <p:cNvPicPr>
            <a:picLocks noChangeAspect="1"/>
          </p:cNvPicPr>
          <p:nvPr/>
        </p:nvPicPr>
        <p:blipFill>
          <a:blip r:embed="rId3"/>
          <a:stretch>
            <a:fillRect/>
          </a:stretch>
        </p:blipFill>
        <p:spPr>
          <a:xfrm>
            <a:off x="1131570" y="4377690"/>
            <a:ext cx="342900" cy="342900"/>
          </a:xfrm>
          <a:prstGeom prst="rect">
            <a:avLst/>
          </a:prstGeom>
        </p:spPr>
      </p:pic>
      <p:sp>
        <p:nvSpPr>
          <p:cNvPr id="17" name="Text 12"/>
          <p:cNvSpPr txBox="1"/>
          <p:nvPr/>
        </p:nvSpPr>
        <p:spPr>
          <a:xfrm>
            <a:off x="1874520" y="4160520"/>
            <a:ext cx="384048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Instructor</a:t>
            </a:r>
            <a:endParaRPr lang="en-US" sz="2000" dirty="0"/>
          </a:p>
        </p:txBody>
      </p:sp>
      <p:sp>
        <p:nvSpPr>
          <p:cNvPr id="18" name="Text 13"/>
          <p:cNvSpPr txBox="1"/>
          <p:nvPr/>
        </p:nvSpPr>
        <p:spPr>
          <a:xfrm>
            <a:off x="1874520" y="4617720"/>
            <a:ext cx="3840480" cy="777240"/>
          </a:xfrm>
          <a:prstGeom prst="rect">
            <a:avLst/>
          </a:prstGeom>
          <a:noFill/>
          <a:ln/>
        </p:spPr>
        <p:txBody>
          <a:bodyPr wrap="square" lIns="0" tIns="0" rIns="0" bIns="0" rtlCol="0" anchor="t"/>
          <a:lstStyle/>
          <a:p>
            <a:pPr indent="0" marL="0">
              <a:buNone/>
            </a:pPr>
            <a:r>
              <a:rPr lang="en-US" sz="1400" dirty="0">
                <a:solidFill>
                  <a:schemeClr val="accent6"/>
                </a:solidFill>
              </a:rPr>
              <a:t>Grades, question bank, examinations and records for the classes they teach.</a:t>
            </a:r>
            <a:endParaRPr lang="en-US" sz="1400" dirty="0"/>
          </a:p>
        </p:txBody>
      </p:sp>
      <p:sp>
        <p:nvSpPr>
          <p:cNvPr id="19" name="Role card"/>
          <p:cNvSpPr/>
          <p:nvPr/>
        </p:nvSpPr>
        <p:spPr>
          <a:xfrm>
            <a:off x="6217920" y="3840480"/>
            <a:ext cx="5303520" cy="1737360"/>
          </a:xfrm>
          <a:prstGeom prst="roundRect">
            <a:avLst>
              <a:gd name="adj" fmla="val 6316"/>
            </a:avLst>
          </a:prstGeom>
          <a:solidFill>
            <a:schemeClr val="bg2"/>
          </a:solidFill>
          <a:ln/>
        </p:spPr>
      </p:sp>
      <p:sp>
        <p:nvSpPr>
          <p:cNvPr id="20" name="Icon circle"/>
          <p:cNvSpPr/>
          <p:nvPr/>
        </p:nvSpPr>
        <p:spPr>
          <a:xfrm>
            <a:off x="6537960" y="4206240"/>
            <a:ext cx="685800" cy="685800"/>
          </a:xfrm>
          <a:prstGeom prst="ellipse">
            <a:avLst/>
          </a:prstGeom>
          <a:solidFill>
            <a:schemeClr val="bg1"/>
          </a:solidFill>
          <a:ln/>
        </p:spPr>
      </p:sp>
      <p:pic>
        <p:nvPicPr>
          <p:cNvPr id="21" name="Icon LuUserRound" descr="preencoded.png">    </p:cNvPr>
          <p:cNvPicPr>
            <a:picLocks noChangeAspect="1"/>
          </p:cNvPicPr>
          <p:nvPr/>
        </p:nvPicPr>
        <p:blipFill>
          <a:blip r:embed="rId4"/>
          <a:stretch>
            <a:fillRect/>
          </a:stretch>
        </p:blipFill>
        <p:spPr>
          <a:xfrm>
            <a:off x="6709410" y="4377690"/>
            <a:ext cx="342900" cy="342900"/>
          </a:xfrm>
          <a:prstGeom prst="rect">
            <a:avLst/>
          </a:prstGeom>
        </p:spPr>
      </p:pic>
      <p:sp>
        <p:nvSpPr>
          <p:cNvPr id="22" name="Text 16"/>
          <p:cNvSpPr txBox="1"/>
          <p:nvPr/>
        </p:nvSpPr>
        <p:spPr>
          <a:xfrm>
            <a:off x="7452360" y="4160520"/>
            <a:ext cx="384048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Candidate</a:t>
            </a:r>
            <a:endParaRPr lang="en-US" sz="2000" dirty="0"/>
          </a:p>
        </p:txBody>
      </p:sp>
      <p:sp>
        <p:nvSpPr>
          <p:cNvPr id="23" name="Text 17"/>
          <p:cNvSpPr txBox="1"/>
          <p:nvPr/>
        </p:nvSpPr>
        <p:spPr>
          <a:xfrm>
            <a:off x="7452360" y="4617720"/>
            <a:ext cx="3840480" cy="777240"/>
          </a:xfrm>
          <a:prstGeom prst="rect">
            <a:avLst/>
          </a:prstGeom>
          <a:noFill/>
          <a:ln/>
        </p:spPr>
        <p:txBody>
          <a:bodyPr wrap="square" lIns="0" tIns="0" rIns="0" bIns="0" rtlCol="0" anchor="t"/>
          <a:lstStyle/>
          <a:p>
            <a:pPr indent="0" marL="0">
              <a:buNone/>
            </a:pPr>
            <a:r>
              <a:rPr lang="en-US" sz="1400" dirty="0">
                <a:solidFill>
                  <a:schemeClr val="accent6"/>
                </a:solidFill>
              </a:rPr>
              <a:t>Takes examinations on a tablet and sees only their own results.</a:t>
            </a:r>
            <a:endParaRPr lang="en-US" sz="1400" dirty="0"/>
          </a:p>
        </p:txBody>
      </p:sp>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640080" y="41148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ADMINISTRATORS</a:t>
            </a:r>
            <a:endParaRPr lang="en-US" sz="1100" dirty="0"/>
          </a:p>
        </p:txBody>
      </p:sp>
      <p:sp>
        <p:nvSpPr>
          <p:cNvPr id="3" name="Text 0"/>
          <p:cNvSpPr/>
          <p:nvPr>
            <p:ph idx="100" type="title" hasCustomPrompt="1"/>
          </p:nvPr>
        </p:nvSpPr>
        <p:spPr>
          <a:xfrm>
            <a:off x="640080" y="777240"/>
            <a:ext cx="10911535" cy="73152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The whole class at a glance</a:t>
            </a:r>
            <a:endParaRPr lang="en-US" sz="3200" dirty="0"/>
          </a:p>
        </p:txBody>
      </p:sp>
      <p:sp>
        <p:nvSpPr>
          <p:cNvPr id="4" name="Text 2"/>
          <p:cNvSpPr txBox="1"/>
          <p:nvPr/>
        </p:nvSpPr>
        <p:spPr>
          <a:xfrm>
            <a:off x="640080" y="1828800"/>
            <a:ext cx="3383280" cy="329184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Standing of every candidate: Passing, At Risk, Failing or Incomplete.</a:t>
            </a:r>
            <a:endParaRPr lang="en-US" sz="1600" dirty="0"/>
          </a:p>
          <a:p>
            <a:pPr marL="342900" indent="-342900">
              <a:spcAft>
                <a:spcPts val="1400"/>
              </a:spcAft>
              <a:buSzPct val="100000"/>
              <a:buChar char="•"/>
            </a:pPr>
            <a:r>
              <a:rPr lang="en-US" sz="1600" dirty="0">
                <a:solidFill>
                  <a:schemeClr val="tx1"/>
                </a:solidFill>
              </a:rPr>
              <a:t>Candidates requiring attention listed first.</a:t>
            </a:r>
            <a:endParaRPr lang="en-US" sz="1600" dirty="0"/>
          </a:p>
          <a:p>
            <a:pPr marL="342900" indent="-342900">
              <a:spcAft>
                <a:spcPts val="1400"/>
              </a:spcAft>
              <a:buSzPct val="100000"/>
              <a:buChar char="•"/>
            </a:pPr>
            <a:r>
              <a:rPr lang="en-US" sz="1600" dirty="0">
                <a:solidFill>
                  <a:schemeClr val="tx1"/>
                </a:solidFill>
              </a:rPr>
              <a:t>Every figure comes from recorded data — no placeholder statistics.</a:t>
            </a:r>
            <a:endParaRPr lang="en-US" sz="1600" dirty="0"/>
          </a:p>
        </p:txBody>
      </p:sp>
      <p:sp>
        <p:nvSpPr>
          <p:cNvPr id="5" name="Screen frame"/>
          <p:cNvSpPr/>
          <p:nvPr/>
        </p:nvSpPr>
        <p:spPr>
          <a:xfrm>
            <a:off x="4343400" y="1783080"/>
            <a:ext cx="7205472" cy="4306824"/>
          </a:xfrm>
          <a:prstGeom prst="rect">
            <a:avLst/>
          </a:prstGeom>
          <a:solidFill>
            <a:schemeClr val="bg1"/>
          </a:solidFill>
          <a:ln w="9525">
            <a:solidFill>
              <a:srgbClr val="D5DED9"/>
            </a:solidFill>
            <a:prstDash val="solid"/>
          </a:ln>
          <a:effectLst>
            <a:outerShdw sx="100000" sy="100000" kx="0" ky="0" algn="bl" rotWithShape="0" blurRad="152400" dist="38100" dir="5400000">
              <a:srgbClr val="000000">
                <a:alpha val="12000"/>
              </a:srgbClr>
            </a:outerShdw>
          </a:effectLst>
        </p:spPr>
      </p:sp>
      <p:pic>
        <p:nvPicPr>
          <p:cNvPr id="6" name="Screen admin/dashboard.png" descr="C:\Users\MAURICIO\AppData\Local\Temp\claude\C--Users-MAURICIO-Documents-student-portal\d461820b-a007-493b-9937-07ac2c972a48\scratchpad\deck\shots\admin\dashboard.png">    </p:cNvPr>
          <p:cNvPicPr>
            <a:picLocks noChangeAspect="1"/>
          </p:cNvPicPr>
          <p:nvPr/>
        </p:nvPicPr>
        <p:blipFill>
          <a:blip r:embed="rId1"/>
          <a:stretch>
            <a:fillRect/>
          </a:stretch>
        </p:blipFill>
        <p:spPr>
          <a:xfrm>
            <a:off x="4343400" y="1783080"/>
            <a:ext cx="7205472" cy="4306824"/>
          </a:xfrm>
          <a:prstGeom prst="rect">
            <a:avLst/>
          </a:prstGeom>
        </p:spPr>
      </p:pic>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640080" y="41148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INSTRUCTORS</a:t>
            </a:r>
            <a:endParaRPr lang="en-US" sz="1100" dirty="0"/>
          </a:p>
        </p:txBody>
      </p:sp>
      <p:sp>
        <p:nvSpPr>
          <p:cNvPr id="3" name="Text 0"/>
          <p:cNvSpPr/>
          <p:nvPr>
            <p:ph idx="100" type="title" hasCustomPrompt="1"/>
          </p:nvPr>
        </p:nvSpPr>
        <p:spPr>
          <a:xfrm>
            <a:off x="640080" y="777240"/>
            <a:ext cx="10911535" cy="73152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Grades calculated by one engine</a:t>
            </a:r>
            <a:endParaRPr lang="en-US" sz="3200" dirty="0"/>
          </a:p>
        </p:txBody>
      </p:sp>
      <p:sp>
        <p:nvSpPr>
          <p:cNvPr id="4" name="Screen frame"/>
          <p:cNvSpPr/>
          <p:nvPr/>
        </p:nvSpPr>
        <p:spPr>
          <a:xfrm>
            <a:off x="640080" y="1783080"/>
            <a:ext cx="7205472" cy="4306824"/>
          </a:xfrm>
          <a:prstGeom prst="rect">
            <a:avLst/>
          </a:prstGeom>
          <a:solidFill>
            <a:schemeClr val="bg1"/>
          </a:solidFill>
          <a:ln w="9525">
            <a:solidFill>
              <a:srgbClr val="D5DED9"/>
            </a:solidFill>
            <a:prstDash val="solid"/>
          </a:ln>
          <a:effectLst>
            <a:outerShdw sx="100000" sy="100000" kx="0" ky="0" algn="bl" rotWithShape="0" blurRad="152400" dist="38100" dir="5400000">
              <a:srgbClr val="000000">
                <a:alpha val="12000"/>
              </a:srgbClr>
            </a:outerShdw>
          </a:effectLst>
        </p:spPr>
      </p:sp>
      <p:pic>
        <p:nvPicPr>
          <p:cNvPr id="5" name="Screen instructor/gradebook.png" descr="C:\Users\MAURICIO\AppData\Local\Temp\claude\C--Users-MAURICIO-Documents-student-portal\d461820b-a007-493b-9937-07ac2c972a48\scratchpad\deck\shots\instructor\gradebook.png">    </p:cNvPr>
          <p:cNvPicPr>
            <a:picLocks noChangeAspect="1"/>
          </p:cNvPicPr>
          <p:nvPr/>
        </p:nvPicPr>
        <p:blipFill>
          <a:blip r:embed="rId1"/>
          <a:stretch>
            <a:fillRect/>
          </a:stretch>
        </p:blipFill>
        <p:spPr>
          <a:xfrm>
            <a:off x="640080" y="1783080"/>
            <a:ext cx="7205472" cy="4306824"/>
          </a:xfrm>
          <a:prstGeom prst="rect">
            <a:avLst/>
          </a:prstGeom>
        </p:spPr>
      </p:pic>
      <p:sp>
        <p:nvSpPr>
          <p:cNvPr id="6" name="Text 3"/>
          <p:cNvSpPr txBox="1"/>
          <p:nvPr/>
        </p:nvSpPr>
        <p:spPr>
          <a:xfrm>
            <a:off x="8229600" y="1828800"/>
            <a:ext cx="3337560" cy="914400"/>
          </a:xfrm>
          <a:prstGeom prst="rect">
            <a:avLst/>
          </a:prstGeom>
          <a:noFill/>
          <a:ln/>
        </p:spPr>
        <p:txBody>
          <a:bodyPr wrap="square" lIns="0" tIns="0" rIns="0" bIns="0" rtlCol="0" anchor="t"/>
          <a:lstStyle/>
          <a:p>
            <a:pPr indent="0" marL="0">
              <a:buNone/>
            </a:pPr>
            <a:r>
              <a:rPr lang="en-US" sz="1600" dirty="0">
                <a:solidFill>
                  <a:schemeClr val="tx1"/>
                </a:solidFill>
              </a:rPr>
              <a:t>Weights and thresholds are set by the institution, not hard-coded.</a:t>
            </a:r>
            <a:endParaRPr lang="en-US" sz="1600" dirty="0"/>
          </a:p>
        </p:txBody>
      </p:sp>
      <p:sp>
        <p:nvSpPr>
          <p:cNvPr id="7" name="Standing chip"/>
          <p:cNvSpPr/>
          <p:nvPr/>
        </p:nvSpPr>
        <p:spPr>
          <a:xfrm>
            <a:off x="8229600" y="2971800"/>
            <a:ext cx="2011680" cy="420624"/>
          </a:xfrm>
          <a:prstGeom prst="roundRect">
            <a:avLst>
              <a:gd name="adj" fmla="val 17391"/>
            </a:avLst>
          </a:prstGeom>
          <a:solidFill>
            <a:schemeClr val="bg1"/>
          </a:solidFill>
          <a:ln w="15875">
            <a:solidFill>
              <a:schemeClr val="accent1"/>
            </a:solidFill>
            <a:prstDash val="solid"/>
          </a:ln>
        </p:spPr>
      </p:sp>
      <p:sp>
        <p:nvSpPr>
          <p:cNvPr id="8" name="Text 5"/>
          <p:cNvSpPr txBox="1"/>
          <p:nvPr/>
        </p:nvSpPr>
        <p:spPr>
          <a:xfrm>
            <a:off x="8229600" y="2971800"/>
            <a:ext cx="2011680" cy="420624"/>
          </a:xfrm>
          <a:prstGeom prst="rect">
            <a:avLst/>
          </a:prstGeom>
          <a:noFill/>
          <a:ln/>
        </p:spPr>
        <p:txBody>
          <a:bodyPr wrap="square" lIns="0" tIns="0" rIns="0" bIns="0" rtlCol="0" anchor="ctr"/>
          <a:lstStyle/>
          <a:p>
            <a:pPr algn="ctr" indent="0" marL="0">
              <a:buNone/>
            </a:pPr>
            <a:r>
              <a:rPr lang="en-US" sz="1200" b="1" spc="100" kern="0" dirty="0">
                <a:solidFill>
                  <a:schemeClr val="accent1"/>
                </a:solidFill>
              </a:rPr>
              <a:t>PASSING</a:t>
            </a:r>
            <a:endParaRPr lang="en-US" sz="1200" dirty="0"/>
          </a:p>
        </p:txBody>
      </p:sp>
      <p:sp>
        <p:nvSpPr>
          <p:cNvPr id="9" name="Standing chip"/>
          <p:cNvSpPr/>
          <p:nvPr/>
        </p:nvSpPr>
        <p:spPr>
          <a:xfrm>
            <a:off x="8229600" y="3538728"/>
            <a:ext cx="2011680" cy="420624"/>
          </a:xfrm>
          <a:prstGeom prst="roundRect">
            <a:avLst>
              <a:gd name="adj" fmla="val 17391"/>
            </a:avLst>
          </a:prstGeom>
          <a:solidFill>
            <a:schemeClr val="bg1"/>
          </a:solidFill>
          <a:ln w="15875">
            <a:solidFill>
              <a:schemeClr val="accent5"/>
            </a:solidFill>
            <a:prstDash val="solid"/>
          </a:ln>
        </p:spPr>
      </p:sp>
      <p:sp>
        <p:nvSpPr>
          <p:cNvPr id="10" name="Text 7"/>
          <p:cNvSpPr txBox="1"/>
          <p:nvPr/>
        </p:nvSpPr>
        <p:spPr>
          <a:xfrm>
            <a:off x="8229600" y="3538728"/>
            <a:ext cx="2011680" cy="420624"/>
          </a:xfrm>
          <a:prstGeom prst="rect">
            <a:avLst/>
          </a:prstGeom>
          <a:noFill/>
          <a:ln/>
        </p:spPr>
        <p:txBody>
          <a:bodyPr wrap="square" lIns="0" tIns="0" rIns="0" bIns="0" rtlCol="0" anchor="ctr"/>
          <a:lstStyle/>
          <a:p>
            <a:pPr algn="ctr" indent="0" marL="0">
              <a:buNone/>
            </a:pPr>
            <a:r>
              <a:rPr lang="en-US" sz="1200" b="1" spc="100" kern="0" dirty="0">
                <a:solidFill>
                  <a:schemeClr val="accent5"/>
                </a:solidFill>
              </a:rPr>
              <a:t>AT RISK</a:t>
            </a:r>
            <a:endParaRPr lang="en-US" sz="1200" dirty="0"/>
          </a:p>
        </p:txBody>
      </p:sp>
      <p:sp>
        <p:nvSpPr>
          <p:cNvPr id="11" name="Standing chip"/>
          <p:cNvSpPr/>
          <p:nvPr/>
        </p:nvSpPr>
        <p:spPr>
          <a:xfrm>
            <a:off x="8229600" y="4105656"/>
            <a:ext cx="2011680" cy="420624"/>
          </a:xfrm>
          <a:prstGeom prst="roundRect">
            <a:avLst>
              <a:gd name="adj" fmla="val 17391"/>
            </a:avLst>
          </a:prstGeom>
          <a:solidFill>
            <a:schemeClr val="bg1"/>
          </a:solidFill>
          <a:ln w="15875">
            <a:solidFill>
              <a:schemeClr val="accent4"/>
            </a:solidFill>
            <a:prstDash val="solid"/>
          </a:ln>
        </p:spPr>
      </p:sp>
      <p:sp>
        <p:nvSpPr>
          <p:cNvPr id="12" name="Text 9"/>
          <p:cNvSpPr txBox="1"/>
          <p:nvPr/>
        </p:nvSpPr>
        <p:spPr>
          <a:xfrm>
            <a:off x="8229600" y="4105656"/>
            <a:ext cx="2011680" cy="420624"/>
          </a:xfrm>
          <a:prstGeom prst="rect">
            <a:avLst/>
          </a:prstGeom>
          <a:noFill/>
          <a:ln/>
        </p:spPr>
        <p:txBody>
          <a:bodyPr wrap="square" lIns="0" tIns="0" rIns="0" bIns="0" rtlCol="0" anchor="ctr"/>
          <a:lstStyle/>
          <a:p>
            <a:pPr algn="ctr" indent="0" marL="0">
              <a:buNone/>
            </a:pPr>
            <a:r>
              <a:rPr lang="en-US" sz="1200" b="1" spc="100" kern="0" dirty="0">
                <a:solidFill>
                  <a:schemeClr val="accent4"/>
                </a:solidFill>
              </a:rPr>
              <a:t>FAILING</a:t>
            </a:r>
            <a:endParaRPr lang="en-US" sz="1200" dirty="0"/>
          </a:p>
        </p:txBody>
      </p:sp>
      <p:sp>
        <p:nvSpPr>
          <p:cNvPr id="13" name="Standing chip"/>
          <p:cNvSpPr/>
          <p:nvPr/>
        </p:nvSpPr>
        <p:spPr>
          <a:xfrm>
            <a:off x="8229600" y="4672584"/>
            <a:ext cx="2011680" cy="420624"/>
          </a:xfrm>
          <a:prstGeom prst="roundRect">
            <a:avLst>
              <a:gd name="adj" fmla="val 17391"/>
            </a:avLst>
          </a:prstGeom>
          <a:solidFill>
            <a:schemeClr val="bg1"/>
          </a:solidFill>
          <a:ln w="15875">
            <a:solidFill>
              <a:schemeClr val="accent6"/>
            </a:solidFill>
            <a:prstDash val="solid"/>
          </a:ln>
        </p:spPr>
      </p:sp>
      <p:sp>
        <p:nvSpPr>
          <p:cNvPr id="14" name="Text 11"/>
          <p:cNvSpPr txBox="1"/>
          <p:nvPr/>
        </p:nvSpPr>
        <p:spPr>
          <a:xfrm>
            <a:off x="8229600" y="4672584"/>
            <a:ext cx="2011680" cy="420624"/>
          </a:xfrm>
          <a:prstGeom prst="rect">
            <a:avLst/>
          </a:prstGeom>
          <a:noFill/>
          <a:ln/>
        </p:spPr>
        <p:txBody>
          <a:bodyPr wrap="square" lIns="0" tIns="0" rIns="0" bIns="0" rtlCol="0" anchor="ctr"/>
          <a:lstStyle/>
          <a:p>
            <a:pPr algn="ctr" indent="0" marL="0">
              <a:buNone/>
            </a:pPr>
            <a:r>
              <a:rPr lang="en-US" sz="1200" b="1" spc="100" kern="0" dirty="0">
                <a:solidFill>
                  <a:schemeClr val="accent6"/>
                </a:solidFill>
              </a:rPr>
              <a:t>INCOMPLETE</a:t>
            </a:r>
            <a:endParaRPr lang="en-US" sz="1200" dirty="0"/>
          </a:p>
        </p:txBody>
      </p:sp>
      <p:sp>
        <p:nvSpPr>
          <p:cNvPr id="15" name="Text 12"/>
          <p:cNvSpPr txBox="1"/>
          <p:nvPr/>
        </p:nvSpPr>
        <p:spPr>
          <a:xfrm>
            <a:off x="8229600" y="5349240"/>
            <a:ext cx="3337560" cy="731520"/>
          </a:xfrm>
          <a:prstGeom prst="rect">
            <a:avLst/>
          </a:prstGeom>
          <a:noFill/>
          <a:ln/>
        </p:spPr>
        <p:txBody>
          <a:bodyPr wrap="square" lIns="0" tIns="0" rIns="0" bIns="0" rtlCol="0" anchor="t"/>
          <a:lstStyle/>
          <a:p>
            <a:pPr indent="0" marL="0">
              <a:buNone/>
            </a:pPr>
            <a:r>
              <a:rPr lang="en-US" sz="1300" dirty="0">
                <a:solidFill>
                  <a:schemeClr val="accent6"/>
                </a:solidFill>
              </a:rPr>
              <a:t>Changed grades keep their history: who, when, the old and new value, and why.</a:t>
            </a:r>
            <a:endParaRPr lang="en-US" sz="1300" dirty="0"/>
          </a:p>
        </p:txBody>
      </p:sp>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640080" y="41148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EXAMINATIONS</a:t>
            </a:r>
            <a:endParaRPr lang="en-US" sz="1100" dirty="0"/>
          </a:p>
        </p:txBody>
      </p:sp>
      <p:sp>
        <p:nvSpPr>
          <p:cNvPr id="3" name="Text 0"/>
          <p:cNvSpPr/>
          <p:nvPr>
            <p:ph idx="100" type="title" hasCustomPrompt="1"/>
          </p:nvPr>
        </p:nvSpPr>
        <p:spPr>
          <a:xfrm>
            <a:off x="640080" y="777240"/>
            <a:ext cx="10911535" cy="73152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From question bank to gradebook</a:t>
            </a:r>
            <a:endParaRPr lang="en-US" sz="3200" dirty="0"/>
          </a:p>
        </p:txBody>
      </p:sp>
      <p:sp>
        <p:nvSpPr>
          <p:cNvPr id="4" name="Text 2"/>
          <p:cNvSpPr txBox="1"/>
          <p:nvPr/>
        </p:nvSpPr>
        <p:spPr>
          <a:xfrm>
            <a:off x="640080" y="1874520"/>
            <a:ext cx="1926275" cy="365760"/>
          </a:xfrm>
          <a:prstGeom prst="rect">
            <a:avLst/>
          </a:prstGeom>
          <a:noFill/>
          <a:ln/>
        </p:spPr>
        <p:txBody>
          <a:bodyPr wrap="square" lIns="0" tIns="0" rIns="0" bIns="0" rtlCol="0" anchor="ctr"/>
          <a:lstStyle/>
          <a:p>
            <a:pPr indent="0" marL="0">
              <a:buNone/>
            </a:pPr>
            <a:r>
              <a:rPr lang="en-US" sz="1400" b="1" dirty="0">
                <a:solidFill>
                  <a:schemeClr val="accent2"/>
                </a:solidFill>
              </a:rPr>
              <a:t>01</a:t>
            </a:r>
            <a:endParaRPr lang="en-US" sz="1400" dirty="0"/>
          </a:p>
        </p:txBody>
      </p:sp>
      <p:sp>
        <p:nvSpPr>
          <p:cNvPr id="5" name="Icon circle"/>
          <p:cNvSpPr/>
          <p:nvPr/>
        </p:nvSpPr>
        <p:spPr>
          <a:xfrm>
            <a:off x="640080" y="2331720"/>
            <a:ext cx="731520" cy="731520"/>
          </a:xfrm>
          <a:prstGeom prst="ellipse">
            <a:avLst/>
          </a:prstGeom>
          <a:solidFill>
            <a:schemeClr val="bg2"/>
          </a:solidFill>
          <a:ln/>
        </p:spPr>
      </p:sp>
      <p:pic>
        <p:nvPicPr>
          <p:cNvPr id="6" name="Icon LuLibrary" descr="preencoded.png">    </p:cNvPr>
          <p:cNvPicPr>
            <a:picLocks noChangeAspect="1"/>
          </p:cNvPicPr>
          <p:nvPr/>
        </p:nvPicPr>
        <p:blipFill>
          <a:blip r:embed="rId1"/>
          <a:stretch>
            <a:fillRect/>
          </a:stretch>
        </p:blipFill>
        <p:spPr>
          <a:xfrm>
            <a:off x="822960" y="2514600"/>
            <a:ext cx="365760" cy="365760"/>
          </a:xfrm>
          <a:prstGeom prst="rect">
            <a:avLst/>
          </a:prstGeom>
        </p:spPr>
      </p:pic>
      <p:sp>
        <p:nvSpPr>
          <p:cNvPr id="7" name="Text 4"/>
          <p:cNvSpPr txBox="1"/>
          <p:nvPr/>
        </p:nvSpPr>
        <p:spPr>
          <a:xfrm>
            <a:off x="640080" y="3291840"/>
            <a:ext cx="1926275"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Question bank</a:t>
            </a:r>
            <a:endParaRPr lang="en-US" sz="1800" dirty="0"/>
          </a:p>
        </p:txBody>
      </p:sp>
      <p:sp>
        <p:nvSpPr>
          <p:cNvPr id="8" name="Text 5"/>
          <p:cNvSpPr txBox="1"/>
          <p:nvPr/>
        </p:nvSpPr>
        <p:spPr>
          <a:xfrm>
            <a:off x="640080" y="3794760"/>
            <a:ext cx="1926275" cy="1463040"/>
          </a:xfrm>
          <a:prstGeom prst="rect">
            <a:avLst/>
          </a:prstGeom>
          <a:noFill/>
          <a:ln/>
        </p:spPr>
        <p:txBody>
          <a:bodyPr wrap="square" lIns="0" tIns="0" rIns="0" bIns="0" rtlCol="0" anchor="t"/>
          <a:lstStyle/>
          <a:p>
            <a:pPr indent="0" marL="0">
              <a:buNone/>
            </a:pPr>
            <a:r>
              <a:rPr lang="en-US" sz="1350" dirty="0">
                <a:solidFill>
                  <a:schemeClr val="accent6"/>
                </a:solidFill>
              </a:rPr>
              <a:t>Reusable multiple-choice, true/false and essay items, with images or media.</a:t>
            </a:r>
            <a:endParaRPr lang="en-US" sz="1350" dirty="0"/>
          </a:p>
        </p:txBody>
      </p:sp>
      <p:sp>
        <p:nvSpPr>
          <p:cNvPr id="9" name="Flow arrow"/>
          <p:cNvSpPr/>
          <p:nvPr/>
        </p:nvSpPr>
        <p:spPr>
          <a:xfrm>
            <a:off x="1554480" y="2697480"/>
            <a:ext cx="1149035" cy="0"/>
          </a:xfrm>
          <a:prstGeom prst="line">
            <a:avLst/>
          </a:prstGeom>
          <a:noFill/>
          <a:ln w="15875">
            <a:solidFill>
              <a:srgbClr val="D5DED9"/>
            </a:solidFill>
            <a:prstDash val="solid"/>
            <a:tailEnd type="triangle"/>
          </a:ln>
        </p:spPr>
      </p:sp>
      <p:sp>
        <p:nvSpPr>
          <p:cNvPr id="10" name="Text 7"/>
          <p:cNvSpPr txBox="1"/>
          <p:nvPr/>
        </p:nvSpPr>
        <p:spPr>
          <a:xfrm>
            <a:off x="2886395" y="1874520"/>
            <a:ext cx="1926275" cy="365760"/>
          </a:xfrm>
          <a:prstGeom prst="rect">
            <a:avLst/>
          </a:prstGeom>
          <a:noFill/>
          <a:ln/>
        </p:spPr>
        <p:txBody>
          <a:bodyPr wrap="square" lIns="0" tIns="0" rIns="0" bIns="0" rtlCol="0" anchor="ctr"/>
          <a:lstStyle/>
          <a:p>
            <a:pPr indent="0" marL="0">
              <a:buNone/>
            </a:pPr>
            <a:r>
              <a:rPr lang="en-US" sz="1400" b="1" dirty="0">
                <a:solidFill>
                  <a:schemeClr val="accent2"/>
                </a:solidFill>
              </a:rPr>
              <a:t>02</a:t>
            </a:r>
            <a:endParaRPr lang="en-US" sz="1400" dirty="0"/>
          </a:p>
        </p:txBody>
      </p:sp>
      <p:sp>
        <p:nvSpPr>
          <p:cNvPr id="11" name="Icon circle"/>
          <p:cNvSpPr/>
          <p:nvPr/>
        </p:nvSpPr>
        <p:spPr>
          <a:xfrm>
            <a:off x="2886395" y="2331720"/>
            <a:ext cx="731520" cy="731520"/>
          </a:xfrm>
          <a:prstGeom prst="ellipse">
            <a:avLst/>
          </a:prstGeom>
          <a:solidFill>
            <a:schemeClr val="bg2"/>
          </a:solidFill>
          <a:ln/>
        </p:spPr>
      </p:sp>
      <p:pic>
        <p:nvPicPr>
          <p:cNvPr id="12" name="Icon LuPencilRuler" descr="preencoded.png">    </p:cNvPr>
          <p:cNvPicPr>
            <a:picLocks noChangeAspect="1"/>
          </p:cNvPicPr>
          <p:nvPr/>
        </p:nvPicPr>
        <p:blipFill>
          <a:blip r:embed="rId2"/>
          <a:stretch>
            <a:fillRect/>
          </a:stretch>
        </p:blipFill>
        <p:spPr>
          <a:xfrm>
            <a:off x="3069275" y="2514600"/>
            <a:ext cx="365760" cy="365760"/>
          </a:xfrm>
          <a:prstGeom prst="rect">
            <a:avLst/>
          </a:prstGeom>
        </p:spPr>
      </p:pic>
      <p:sp>
        <p:nvSpPr>
          <p:cNvPr id="13" name="Text 9"/>
          <p:cNvSpPr txBox="1"/>
          <p:nvPr/>
        </p:nvSpPr>
        <p:spPr>
          <a:xfrm>
            <a:off x="2886395" y="3291840"/>
            <a:ext cx="1926275"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Build</a:t>
            </a:r>
            <a:endParaRPr lang="en-US" sz="1800" dirty="0"/>
          </a:p>
        </p:txBody>
      </p:sp>
      <p:sp>
        <p:nvSpPr>
          <p:cNvPr id="14" name="Text 10"/>
          <p:cNvSpPr txBox="1"/>
          <p:nvPr/>
        </p:nvSpPr>
        <p:spPr>
          <a:xfrm>
            <a:off x="2886395" y="3794760"/>
            <a:ext cx="1926275" cy="1463040"/>
          </a:xfrm>
          <a:prstGeom prst="rect">
            <a:avLst/>
          </a:prstGeom>
          <a:noFill/>
          <a:ln/>
        </p:spPr>
        <p:txBody>
          <a:bodyPr wrap="square" lIns="0" tIns="0" rIns="0" bIns="0" rtlCol="0" anchor="t"/>
          <a:lstStyle/>
          <a:p>
            <a:pPr indent="0" marL="0">
              <a:buNone/>
            </a:pPr>
            <a:r>
              <a:rPr lang="en-US" sz="1350" dirty="0">
                <a:solidFill>
                  <a:schemeClr val="accent6"/>
                </a:solidFill>
              </a:rPr>
              <a:t>Choose the class, questions, time limit, attempts and rules.</a:t>
            </a:r>
            <a:endParaRPr lang="en-US" sz="1350" dirty="0"/>
          </a:p>
        </p:txBody>
      </p:sp>
      <p:sp>
        <p:nvSpPr>
          <p:cNvPr id="15" name="Flow arrow"/>
          <p:cNvSpPr/>
          <p:nvPr/>
        </p:nvSpPr>
        <p:spPr>
          <a:xfrm>
            <a:off x="3800795" y="2697480"/>
            <a:ext cx="1149035" cy="0"/>
          </a:xfrm>
          <a:prstGeom prst="line">
            <a:avLst/>
          </a:prstGeom>
          <a:noFill/>
          <a:ln w="15875">
            <a:solidFill>
              <a:srgbClr val="D5DED9"/>
            </a:solidFill>
            <a:prstDash val="solid"/>
            <a:tailEnd type="triangle"/>
          </a:ln>
        </p:spPr>
      </p:sp>
      <p:sp>
        <p:nvSpPr>
          <p:cNvPr id="16" name="Text 12"/>
          <p:cNvSpPr txBox="1"/>
          <p:nvPr/>
        </p:nvSpPr>
        <p:spPr>
          <a:xfrm>
            <a:off x="5132710" y="1874520"/>
            <a:ext cx="1926275" cy="365760"/>
          </a:xfrm>
          <a:prstGeom prst="rect">
            <a:avLst/>
          </a:prstGeom>
          <a:noFill/>
          <a:ln/>
        </p:spPr>
        <p:txBody>
          <a:bodyPr wrap="square" lIns="0" tIns="0" rIns="0" bIns="0" rtlCol="0" anchor="ctr"/>
          <a:lstStyle/>
          <a:p>
            <a:pPr indent="0" marL="0">
              <a:buNone/>
            </a:pPr>
            <a:r>
              <a:rPr lang="en-US" sz="1400" b="1" dirty="0">
                <a:solidFill>
                  <a:schemeClr val="accent2"/>
                </a:solidFill>
              </a:rPr>
              <a:t>03</a:t>
            </a:r>
            <a:endParaRPr lang="en-US" sz="1400" dirty="0"/>
          </a:p>
        </p:txBody>
      </p:sp>
      <p:sp>
        <p:nvSpPr>
          <p:cNvPr id="17" name="Icon circle"/>
          <p:cNvSpPr/>
          <p:nvPr/>
        </p:nvSpPr>
        <p:spPr>
          <a:xfrm>
            <a:off x="5132710" y="2331720"/>
            <a:ext cx="731520" cy="731520"/>
          </a:xfrm>
          <a:prstGeom prst="ellipse">
            <a:avLst/>
          </a:prstGeom>
          <a:solidFill>
            <a:schemeClr val="bg2"/>
          </a:solidFill>
          <a:ln/>
        </p:spPr>
      </p:sp>
      <p:pic>
        <p:nvPicPr>
          <p:cNvPr id="18" name="Icon LuSend" descr="preencoded.png">    </p:cNvPr>
          <p:cNvPicPr>
            <a:picLocks noChangeAspect="1"/>
          </p:cNvPicPr>
          <p:nvPr/>
        </p:nvPicPr>
        <p:blipFill>
          <a:blip r:embed="rId3"/>
          <a:stretch>
            <a:fillRect/>
          </a:stretch>
        </p:blipFill>
        <p:spPr>
          <a:xfrm>
            <a:off x="5315590" y="2514600"/>
            <a:ext cx="365760" cy="365760"/>
          </a:xfrm>
          <a:prstGeom prst="rect">
            <a:avLst/>
          </a:prstGeom>
        </p:spPr>
      </p:pic>
      <p:sp>
        <p:nvSpPr>
          <p:cNvPr id="19" name="Text 14"/>
          <p:cNvSpPr txBox="1"/>
          <p:nvPr/>
        </p:nvSpPr>
        <p:spPr>
          <a:xfrm>
            <a:off x="5132710" y="3291840"/>
            <a:ext cx="1926275"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Publish</a:t>
            </a:r>
            <a:endParaRPr lang="en-US" sz="1800" dirty="0"/>
          </a:p>
        </p:txBody>
      </p:sp>
      <p:sp>
        <p:nvSpPr>
          <p:cNvPr id="20" name="Text 15"/>
          <p:cNvSpPr txBox="1"/>
          <p:nvPr/>
        </p:nvSpPr>
        <p:spPr>
          <a:xfrm>
            <a:off x="5132710" y="3794760"/>
            <a:ext cx="1926275" cy="1463040"/>
          </a:xfrm>
          <a:prstGeom prst="rect">
            <a:avLst/>
          </a:prstGeom>
          <a:noFill/>
          <a:ln/>
        </p:spPr>
        <p:txBody>
          <a:bodyPr wrap="square" lIns="0" tIns="0" rIns="0" bIns="0" rtlCol="0" anchor="t"/>
          <a:lstStyle/>
          <a:p>
            <a:pPr indent="0" marL="0">
              <a:buNone/>
            </a:pPr>
            <a:r>
              <a:rPr lang="en-US" sz="1350" dirty="0">
                <a:solidFill>
                  <a:schemeClr val="accent6"/>
                </a:solidFill>
              </a:rPr>
              <a:t>Only to classes the instructor is assigned to.</a:t>
            </a:r>
            <a:endParaRPr lang="en-US" sz="1350" dirty="0"/>
          </a:p>
        </p:txBody>
      </p:sp>
      <p:sp>
        <p:nvSpPr>
          <p:cNvPr id="21" name="Flow arrow"/>
          <p:cNvSpPr/>
          <p:nvPr/>
        </p:nvSpPr>
        <p:spPr>
          <a:xfrm>
            <a:off x="6047110" y="2697480"/>
            <a:ext cx="1149035" cy="0"/>
          </a:xfrm>
          <a:prstGeom prst="line">
            <a:avLst/>
          </a:prstGeom>
          <a:noFill/>
          <a:ln w="15875">
            <a:solidFill>
              <a:srgbClr val="D5DED9"/>
            </a:solidFill>
            <a:prstDash val="solid"/>
            <a:tailEnd type="triangle"/>
          </a:ln>
        </p:spPr>
      </p:sp>
      <p:sp>
        <p:nvSpPr>
          <p:cNvPr id="22" name="Text 17"/>
          <p:cNvSpPr txBox="1"/>
          <p:nvPr/>
        </p:nvSpPr>
        <p:spPr>
          <a:xfrm>
            <a:off x="7379025" y="1874520"/>
            <a:ext cx="1926275" cy="365760"/>
          </a:xfrm>
          <a:prstGeom prst="rect">
            <a:avLst/>
          </a:prstGeom>
          <a:noFill/>
          <a:ln/>
        </p:spPr>
        <p:txBody>
          <a:bodyPr wrap="square" lIns="0" tIns="0" rIns="0" bIns="0" rtlCol="0" anchor="ctr"/>
          <a:lstStyle/>
          <a:p>
            <a:pPr indent="0" marL="0">
              <a:buNone/>
            </a:pPr>
            <a:r>
              <a:rPr lang="en-US" sz="1400" b="1" dirty="0">
                <a:solidFill>
                  <a:schemeClr val="accent2"/>
                </a:solidFill>
              </a:rPr>
              <a:t>04</a:t>
            </a:r>
            <a:endParaRPr lang="en-US" sz="1400" dirty="0"/>
          </a:p>
        </p:txBody>
      </p:sp>
      <p:sp>
        <p:nvSpPr>
          <p:cNvPr id="23" name="Icon circle"/>
          <p:cNvSpPr/>
          <p:nvPr/>
        </p:nvSpPr>
        <p:spPr>
          <a:xfrm>
            <a:off x="7379025" y="2331720"/>
            <a:ext cx="731520" cy="731520"/>
          </a:xfrm>
          <a:prstGeom prst="ellipse">
            <a:avLst/>
          </a:prstGeom>
          <a:solidFill>
            <a:schemeClr val="bg2"/>
          </a:solidFill>
          <a:ln/>
        </p:spPr>
      </p:sp>
      <p:pic>
        <p:nvPicPr>
          <p:cNvPr id="24" name="Icon LuMonitorCheck" descr="preencoded.png">    </p:cNvPr>
          <p:cNvPicPr>
            <a:picLocks noChangeAspect="1"/>
          </p:cNvPicPr>
          <p:nvPr/>
        </p:nvPicPr>
        <p:blipFill>
          <a:blip r:embed="rId4"/>
          <a:stretch>
            <a:fillRect/>
          </a:stretch>
        </p:blipFill>
        <p:spPr>
          <a:xfrm>
            <a:off x="7561905" y="2514600"/>
            <a:ext cx="365760" cy="365760"/>
          </a:xfrm>
          <a:prstGeom prst="rect">
            <a:avLst/>
          </a:prstGeom>
        </p:spPr>
      </p:pic>
      <p:sp>
        <p:nvSpPr>
          <p:cNvPr id="25" name="Text 19"/>
          <p:cNvSpPr txBox="1"/>
          <p:nvPr/>
        </p:nvSpPr>
        <p:spPr>
          <a:xfrm>
            <a:off x="7379025" y="3291840"/>
            <a:ext cx="1926275"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Monitor</a:t>
            </a:r>
            <a:endParaRPr lang="en-US" sz="1800" dirty="0"/>
          </a:p>
        </p:txBody>
      </p:sp>
      <p:sp>
        <p:nvSpPr>
          <p:cNvPr id="26" name="Text 20"/>
          <p:cNvSpPr txBox="1"/>
          <p:nvPr/>
        </p:nvSpPr>
        <p:spPr>
          <a:xfrm>
            <a:off x="7379025" y="3794760"/>
            <a:ext cx="1926275" cy="1463040"/>
          </a:xfrm>
          <a:prstGeom prst="rect">
            <a:avLst/>
          </a:prstGeom>
          <a:noFill/>
          <a:ln/>
        </p:spPr>
        <p:txBody>
          <a:bodyPr wrap="square" lIns="0" tIns="0" rIns="0" bIns="0" rtlCol="0" anchor="t"/>
          <a:lstStyle/>
          <a:p>
            <a:pPr indent="0" marL="0">
              <a:buNone/>
            </a:pPr>
            <a:r>
              <a:rPr lang="en-US" sz="1350" dirty="0">
                <a:solidFill>
                  <a:schemeClr val="accent6"/>
                </a:solidFill>
              </a:rPr>
              <a:t>Live status: active, submitted, not started, left the screen.</a:t>
            </a:r>
            <a:endParaRPr lang="en-US" sz="1350" dirty="0"/>
          </a:p>
        </p:txBody>
      </p:sp>
      <p:sp>
        <p:nvSpPr>
          <p:cNvPr id="27" name="Flow arrow"/>
          <p:cNvSpPr/>
          <p:nvPr/>
        </p:nvSpPr>
        <p:spPr>
          <a:xfrm>
            <a:off x="8293425" y="2697480"/>
            <a:ext cx="1149035" cy="0"/>
          </a:xfrm>
          <a:prstGeom prst="line">
            <a:avLst/>
          </a:prstGeom>
          <a:noFill/>
          <a:ln w="15875">
            <a:solidFill>
              <a:srgbClr val="D5DED9"/>
            </a:solidFill>
            <a:prstDash val="solid"/>
            <a:tailEnd type="triangle"/>
          </a:ln>
        </p:spPr>
      </p:sp>
      <p:sp>
        <p:nvSpPr>
          <p:cNvPr id="28" name="Text 22"/>
          <p:cNvSpPr txBox="1"/>
          <p:nvPr/>
        </p:nvSpPr>
        <p:spPr>
          <a:xfrm>
            <a:off x="9625340" y="1874520"/>
            <a:ext cx="1926275" cy="365760"/>
          </a:xfrm>
          <a:prstGeom prst="rect">
            <a:avLst/>
          </a:prstGeom>
          <a:noFill/>
          <a:ln/>
        </p:spPr>
        <p:txBody>
          <a:bodyPr wrap="square" lIns="0" tIns="0" rIns="0" bIns="0" rtlCol="0" anchor="ctr"/>
          <a:lstStyle/>
          <a:p>
            <a:pPr indent="0" marL="0">
              <a:buNone/>
            </a:pPr>
            <a:r>
              <a:rPr lang="en-US" sz="1400" b="1" dirty="0">
                <a:solidFill>
                  <a:schemeClr val="accent2"/>
                </a:solidFill>
              </a:rPr>
              <a:t>05</a:t>
            </a:r>
            <a:endParaRPr lang="en-US" sz="1400" dirty="0"/>
          </a:p>
        </p:txBody>
      </p:sp>
      <p:sp>
        <p:nvSpPr>
          <p:cNvPr id="29" name="Icon circle"/>
          <p:cNvSpPr/>
          <p:nvPr/>
        </p:nvSpPr>
        <p:spPr>
          <a:xfrm>
            <a:off x="9625340" y="2331720"/>
            <a:ext cx="731520" cy="731520"/>
          </a:xfrm>
          <a:prstGeom prst="ellipse">
            <a:avLst/>
          </a:prstGeom>
          <a:solidFill>
            <a:schemeClr val="bg2"/>
          </a:solidFill>
          <a:ln/>
        </p:spPr>
      </p:sp>
      <p:pic>
        <p:nvPicPr>
          <p:cNvPr id="30" name="Icon LuCircleCheck" descr="preencoded.png">    </p:cNvPr>
          <p:cNvPicPr>
            <a:picLocks noChangeAspect="1"/>
          </p:cNvPicPr>
          <p:nvPr/>
        </p:nvPicPr>
        <p:blipFill>
          <a:blip r:embed="rId5"/>
          <a:stretch>
            <a:fillRect/>
          </a:stretch>
        </p:blipFill>
        <p:spPr>
          <a:xfrm>
            <a:off x="9808220" y="2514600"/>
            <a:ext cx="365760" cy="365760"/>
          </a:xfrm>
          <a:prstGeom prst="rect">
            <a:avLst/>
          </a:prstGeom>
        </p:spPr>
      </p:pic>
      <p:sp>
        <p:nvSpPr>
          <p:cNvPr id="31" name="Text 24"/>
          <p:cNvSpPr txBox="1"/>
          <p:nvPr/>
        </p:nvSpPr>
        <p:spPr>
          <a:xfrm>
            <a:off x="9625340" y="3291840"/>
            <a:ext cx="1926275"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Score &amp; post</a:t>
            </a:r>
            <a:endParaRPr lang="en-US" sz="1800" dirty="0"/>
          </a:p>
        </p:txBody>
      </p:sp>
      <p:sp>
        <p:nvSpPr>
          <p:cNvPr id="32" name="Text 25"/>
          <p:cNvSpPr txBox="1"/>
          <p:nvPr/>
        </p:nvSpPr>
        <p:spPr>
          <a:xfrm>
            <a:off x="9625340" y="3794760"/>
            <a:ext cx="1926275" cy="1463040"/>
          </a:xfrm>
          <a:prstGeom prst="rect">
            <a:avLst/>
          </a:prstGeom>
          <a:noFill/>
          <a:ln/>
        </p:spPr>
        <p:txBody>
          <a:bodyPr wrap="square" lIns="0" tIns="0" rIns="0" bIns="0" rtlCol="0" anchor="t"/>
          <a:lstStyle/>
          <a:p>
            <a:pPr indent="0" marL="0">
              <a:buNone/>
            </a:pPr>
            <a:r>
              <a:rPr lang="en-US" sz="1350" dirty="0">
                <a:solidFill>
                  <a:schemeClr val="accent6"/>
                </a:solidFill>
              </a:rPr>
              <a:t>Objective items scored by the server; essays graded; results posted to the gradebook.</a:t>
            </a:r>
            <a:endParaRPr lang="en-US" sz="1350" dirty="0"/>
          </a:p>
        </p:txBody>
      </p:sp>
      <p:sp>
        <p:nvSpPr>
          <p:cNvPr id="33" name="Text 26"/>
          <p:cNvSpPr txBox="1"/>
          <p:nvPr/>
        </p:nvSpPr>
        <p:spPr>
          <a:xfrm>
            <a:off x="640080" y="5532120"/>
            <a:ext cx="10911535" cy="365760"/>
          </a:xfrm>
          <a:prstGeom prst="rect">
            <a:avLst/>
          </a:prstGeom>
          <a:noFill/>
          <a:ln/>
        </p:spPr>
        <p:txBody>
          <a:bodyPr wrap="square" lIns="0" tIns="0" rIns="0" bIns="0" rtlCol="0" anchor="ctr"/>
          <a:lstStyle/>
          <a:p>
            <a:pPr indent="0" marL="0">
              <a:buNone/>
            </a:pPr>
            <a:r>
              <a:rPr lang="en-US" sz="1400" i="1" dirty="0">
                <a:solidFill>
                  <a:schemeClr val="tx2"/>
                </a:solidFill>
              </a:rPr>
              <a:t>Timers, attempt limits and submission rules are enforced by the server, never by the tablet alone.</a:t>
            </a:r>
            <a:endParaRPr lang="en-US" sz="1400" dirty="0"/>
          </a:p>
        </p:txBody>
      </p:sp>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640080" y="41148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CANDIDATES</a:t>
            </a:r>
            <a:endParaRPr lang="en-US" sz="1100" dirty="0"/>
          </a:p>
        </p:txBody>
      </p:sp>
      <p:sp>
        <p:nvSpPr>
          <p:cNvPr id="3" name="Text 0"/>
          <p:cNvSpPr/>
          <p:nvPr>
            <p:ph idx="100" type="title" hasCustomPrompt="1"/>
          </p:nvPr>
        </p:nvSpPr>
        <p:spPr>
          <a:xfrm>
            <a:off x="640080" y="777240"/>
            <a:ext cx="10911535" cy="73152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Made for the tablet</a:t>
            </a:r>
            <a:endParaRPr lang="en-US" sz="3200" dirty="0"/>
          </a:p>
        </p:txBody>
      </p:sp>
      <p:sp>
        <p:nvSpPr>
          <p:cNvPr id="4" name="Icon circle"/>
          <p:cNvSpPr/>
          <p:nvPr/>
        </p:nvSpPr>
        <p:spPr>
          <a:xfrm>
            <a:off x="640080" y="2103120"/>
            <a:ext cx="566928" cy="566928"/>
          </a:xfrm>
          <a:prstGeom prst="ellipse">
            <a:avLst/>
          </a:prstGeom>
          <a:solidFill>
            <a:schemeClr val="bg2"/>
          </a:solidFill>
          <a:ln/>
        </p:spPr>
      </p:sp>
      <p:pic>
        <p:nvPicPr>
          <p:cNvPr id="5" name="Icon LuSave" descr="preencoded.png">    </p:cNvPr>
          <p:cNvPicPr>
            <a:picLocks noChangeAspect="1"/>
          </p:cNvPicPr>
          <p:nvPr/>
        </p:nvPicPr>
        <p:blipFill>
          <a:blip r:embed="rId1"/>
          <a:stretch>
            <a:fillRect/>
          </a:stretch>
        </p:blipFill>
        <p:spPr>
          <a:xfrm>
            <a:off x="781812" y="2244852"/>
            <a:ext cx="283464" cy="283464"/>
          </a:xfrm>
          <a:prstGeom prst="rect">
            <a:avLst/>
          </a:prstGeom>
        </p:spPr>
      </p:pic>
      <p:sp>
        <p:nvSpPr>
          <p:cNvPr id="6" name="Text 3"/>
          <p:cNvSpPr txBox="1"/>
          <p:nvPr/>
        </p:nvSpPr>
        <p:spPr>
          <a:xfrm>
            <a:off x="1417320" y="2103120"/>
            <a:ext cx="3657600" cy="566928"/>
          </a:xfrm>
          <a:prstGeom prst="rect">
            <a:avLst/>
          </a:prstGeom>
          <a:noFill/>
          <a:ln/>
        </p:spPr>
        <p:txBody>
          <a:bodyPr wrap="square" lIns="0" tIns="0" rIns="0" bIns="0" rtlCol="0" anchor="ctr"/>
          <a:lstStyle/>
          <a:p>
            <a:pPr indent="0" marL="0">
              <a:buNone/>
            </a:pPr>
            <a:r>
              <a:rPr lang="en-US" sz="1600" dirty="0">
                <a:solidFill>
                  <a:schemeClr val="tx1"/>
                </a:solidFill>
              </a:rPr>
              <a:t>Answers saved as they are chosen</a:t>
            </a:r>
            <a:endParaRPr lang="en-US" sz="1600" dirty="0"/>
          </a:p>
        </p:txBody>
      </p:sp>
      <p:sp>
        <p:nvSpPr>
          <p:cNvPr id="7" name="Icon circle"/>
          <p:cNvSpPr/>
          <p:nvPr/>
        </p:nvSpPr>
        <p:spPr>
          <a:xfrm>
            <a:off x="640080" y="3063240"/>
            <a:ext cx="566928" cy="566928"/>
          </a:xfrm>
          <a:prstGeom prst="ellipse">
            <a:avLst/>
          </a:prstGeom>
          <a:solidFill>
            <a:schemeClr val="bg2"/>
          </a:solidFill>
          <a:ln/>
        </p:spPr>
      </p:sp>
      <p:pic>
        <p:nvPicPr>
          <p:cNvPr id="8" name="Icon LuWifiOff" descr="preencoded.png">    </p:cNvPr>
          <p:cNvPicPr>
            <a:picLocks noChangeAspect="1"/>
          </p:cNvPicPr>
          <p:nvPr/>
        </p:nvPicPr>
        <p:blipFill>
          <a:blip r:embed="rId2"/>
          <a:stretch>
            <a:fillRect/>
          </a:stretch>
        </p:blipFill>
        <p:spPr>
          <a:xfrm>
            <a:off x="781812" y="3204972"/>
            <a:ext cx="283464" cy="283464"/>
          </a:xfrm>
          <a:prstGeom prst="rect">
            <a:avLst/>
          </a:prstGeom>
        </p:spPr>
      </p:pic>
      <p:sp>
        <p:nvSpPr>
          <p:cNvPr id="9" name="Text 5"/>
          <p:cNvSpPr txBox="1"/>
          <p:nvPr/>
        </p:nvSpPr>
        <p:spPr>
          <a:xfrm>
            <a:off x="1417320" y="3063240"/>
            <a:ext cx="3657600" cy="566928"/>
          </a:xfrm>
          <a:prstGeom prst="rect">
            <a:avLst/>
          </a:prstGeom>
          <a:noFill/>
          <a:ln/>
        </p:spPr>
        <p:txBody>
          <a:bodyPr wrap="square" lIns="0" tIns="0" rIns="0" bIns="0" rtlCol="0" anchor="ctr"/>
          <a:lstStyle/>
          <a:p>
            <a:pPr indent="0" marL="0">
              <a:buNone/>
            </a:pPr>
            <a:r>
              <a:rPr lang="en-US" sz="1600" dirty="0">
                <a:solidFill>
                  <a:schemeClr val="tx1"/>
                </a:solidFill>
              </a:rPr>
              <a:t>Short Wi-Fi drops kept on the device and synced</a:t>
            </a:r>
            <a:endParaRPr lang="en-US" sz="1600" dirty="0"/>
          </a:p>
        </p:txBody>
      </p:sp>
      <p:sp>
        <p:nvSpPr>
          <p:cNvPr id="10" name="Icon circle"/>
          <p:cNvSpPr/>
          <p:nvPr/>
        </p:nvSpPr>
        <p:spPr>
          <a:xfrm>
            <a:off x="640080" y="4023360"/>
            <a:ext cx="566928" cy="566928"/>
          </a:xfrm>
          <a:prstGeom prst="ellipse">
            <a:avLst/>
          </a:prstGeom>
          <a:solidFill>
            <a:schemeClr val="bg2"/>
          </a:solidFill>
          <a:ln/>
        </p:spPr>
      </p:sp>
      <p:pic>
        <p:nvPicPr>
          <p:cNvPr id="11" name="Icon LuClock" descr="preencoded.png">    </p:cNvPr>
          <p:cNvPicPr>
            <a:picLocks noChangeAspect="1"/>
          </p:cNvPicPr>
          <p:nvPr/>
        </p:nvPicPr>
        <p:blipFill>
          <a:blip r:embed="rId3"/>
          <a:stretch>
            <a:fillRect/>
          </a:stretch>
        </p:blipFill>
        <p:spPr>
          <a:xfrm>
            <a:off x="781812" y="4165092"/>
            <a:ext cx="283464" cy="283464"/>
          </a:xfrm>
          <a:prstGeom prst="rect">
            <a:avLst/>
          </a:prstGeom>
        </p:spPr>
      </p:pic>
      <p:sp>
        <p:nvSpPr>
          <p:cNvPr id="12" name="Text 7"/>
          <p:cNvSpPr txBox="1"/>
          <p:nvPr/>
        </p:nvSpPr>
        <p:spPr>
          <a:xfrm>
            <a:off x="1417320" y="4023360"/>
            <a:ext cx="3657600" cy="566928"/>
          </a:xfrm>
          <a:prstGeom prst="rect">
            <a:avLst/>
          </a:prstGeom>
          <a:noFill/>
          <a:ln/>
        </p:spPr>
        <p:txBody>
          <a:bodyPr wrap="square" lIns="0" tIns="0" rIns="0" bIns="0" rtlCol="0" anchor="ctr"/>
          <a:lstStyle/>
          <a:p>
            <a:pPr indent="0" marL="0">
              <a:buNone/>
            </a:pPr>
            <a:r>
              <a:rPr lang="en-US" sz="1600" dirty="0">
                <a:solidFill>
                  <a:schemeClr val="tx1"/>
                </a:solidFill>
              </a:rPr>
              <a:t>Visible timer; large, clear choices</a:t>
            </a:r>
            <a:endParaRPr lang="en-US" sz="1600" dirty="0"/>
          </a:p>
        </p:txBody>
      </p:sp>
      <p:sp>
        <p:nvSpPr>
          <p:cNvPr id="13" name="Icon circle"/>
          <p:cNvSpPr/>
          <p:nvPr/>
        </p:nvSpPr>
        <p:spPr>
          <a:xfrm>
            <a:off x="640080" y="4983480"/>
            <a:ext cx="566928" cy="566928"/>
          </a:xfrm>
          <a:prstGeom prst="ellipse">
            <a:avLst/>
          </a:prstGeom>
          <a:solidFill>
            <a:schemeClr val="bg2"/>
          </a:solidFill>
          <a:ln/>
        </p:spPr>
      </p:sp>
      <p:pic>
        <p:nvPicPr>
          <p:cNvPr id="14" name="Icon LuLock" descr="preencoded.png">    </p:cNvPr>
          <p:cNvPicPr>
            <a:picLocks noChangeAspect="1"/>
          </p:cNvPicPr>
          <p:nvPr/>
        </p:nvPicPr>
        <p:blipFill>
          <a:blip r:embed="rId4"/>
          <a:stretch>
            <a:fillRect/>
          </a:stretch>
        </p:blipFill>
        <p:spPr>
          <a:xfrm>
            <a:off x="781812" y="5125212"/>
            <a:ext cx="283464" cy="283464"/>
          </a:xfrm>
          <a:prstGeom prst="rect">
            <a:avLst/>
          </a:prstGeom>
        </p:spPr>
      </p:pic>
      <p:sp>
        <p:nvSpPr>
          <p:cNvPr id="15" name="Text 9"/>
          <p:cNvSpPr txBox="1"/>
          <p:nvPr/>
        </p:nvSpPr>
        <p:spPr>
          <a:xfrm>
            <a:off x="1417320" y="4983480"/>
            <a:ext cx="3657600" cy="566928"/>
          </a:xfrm>
          <a:prstGeom prst="rect">
            <a:avLst/>
          </a:prstGeom>
          <a:noFill/>
          <a:ln/>
        </p:spPr>
        <p:txBody>
          <a:bodyPr wrap="square" lIns="0" tIns="0" rIns="0" bIns="0" rtlCol="0" anchor="ctr"/>
          <a:lstStyle/>
          <a:p>
            <a:pPr indent="0" marL="0">
              <a:buNone/>
            </a:pPr>
            <a:r>
              <a:rPr lang="en-US" sz="1600" dirty="0">
                <a:solidFill>
                  <a:schemeClr val="tx1"/>
                </a:solidFill>
              </a:rPr>
              <a:t>Only the candidate's own records</a:t>
            </a:r>
            <a:endParaRPr lang="en-US" sz="1600" dirty="0"/>
          </a:p>
        </p:txBody>
      </p:sp>
      <p:sp>
        <p:nvSpPr>
          <p:cNvPr id="16" name="Screen frame"/>
          <p:cNvSpPr/>
          <p:nvPr/>
        </p:nvSpPr>
        <p:spPr>
          <a:xfrm>
            <a:off x="5239512" y="1691640"/>
            <a:ext cx="3017520" cy="4325112"/>
          </a:xfrm>
          <a:prstGeom prst="rect">
            <a:avLst/>
          </a:prstGeom>
          <a:solidFill>
            <a:schemeClr val="bg1"/>
          </a:solidFill>
          <a:ln w="9525">
            <a:solidFill>
              <a:srgbClr val="D5DED9"/>
            </a:solidFill>
            <a:prstDash val="solid"/>
          </a:ln>
          <a:effectLst>
            <a:outerShdw sx="100000" sy="100000" kx="0" ky="0" algn="bl" rotWithShape="0" blurRad="152400" dist="38100" dir="5400000">
              <a:srgbClr val="000000">
                <a:alpha val="12000"/>
              </a:srgbClr>
            </a:outerShdw>
          </a:effectLst>
        </p:spPr>
      </p:sp>
      <p:pic>
        <p:nvPicPr>
          <p:cNvPr id="17" name="Screen student/home.png" descr="C:\Users\MAURICIO\AppData\Local\Temp\claude\C--Users-MAURICIO-Documents-student-portal\d461820b-a007-493b-9937-07ac2c972a48\scratchpad\deck\shots\student\home.png">    </p:cNvPr>
          <p:cNvPicPr>
            <a:picLocks noChangeAspect="1"/>
          </p:cNvPicPr>
          <p:nvPr/>
        </p:nvPicPr>
        <p:blipFill>
          <a:blip r:embed="rId5"/>
          <a:stretch>
            <a:fillRect/>
          </a:stretch>
        </p:blipFill>
        <p:spPr>
          <a:xfrm>
            <a:off x="5239512" y="1691640"/>
            <a:ext cx="3017520" cy="4325112"/>
          </a:xfrm>
          <a:prstGeom prst="rect">
            <a:avLst/>
          </a:prstGeom>
        </p:spPr>
      </p:pic>
      <p:sp>
        <p:nvSpPr>
          <p:cNvPr id="18" name="Screen frame"/>
          <p:cNvSpPr/>
          <p:nvPr/>
        </p:nvSpPr>
        <p:spPr>
          <a:xfrm>
            <a:off x="8531352" y="1691640"/>
            <a:ext cx="3017520" cy="4325112"/>
          </a:xfrm>
          <a:prstGeom prst="rect">
            <a:avLst/>
          </a:prstGeom>
          <a:solidFill>
            <a:schemeClr val="bg1"/>
          </a:solidFill>
          <a:ln w="9525">
            <a:solidFill>
              <a:srgbClr val="D5DED9"/>
            </a:solidFill>
            <a:prstDash val="solid"/>
          </a:ln>
          <a:effectLst>
            <a:outerShdw sx="100000" sy="100000" kx="0" ky="0" algn="bl" rotWithShape="0" blurRad="152400" dist="38100" dir="5400000">
              <a:srgbClr val="000000">
                <a:alpha val="12000"/>
              </a:srgbClr>
            </a:outerShdw>
          </a:effectLst>
        </p:spPr>
      </p:sp>
      <p:pic>
        <p:nvPicPr>
          <p:cNvPr id="19" name="Screen student/grades.png" descr="C:\Users\MAURICIO\AppData\Local\Temp\claude\C--Users-MAURICIO-Documents-student-portal\d461820b-a007-493b-9937-07ac2c972a48\scratchpad\deck\shots\student\grades.png">    </p:cNvPr>
          <p:cNvPicPr>
            <a:picLocks noChangeAspect="1"/>
          </p:cNvPicPr>
          <p:nvPr/>
        </p:nvPicPr>
        <p:blipFill>
          <a:blip r:embed="rId6"/>
          <a:stretch>
            <a:fillRect/>
          </a:stretch>
        </p:blipFill>
        <p:spPr>
          <a:xfrm>
            <a:off x="8531352" y="1691640"/>
            <a:ext cx="3017520" cy="4325112"/>
          </a:xfrm>
          <a:prstGeom prst="rect">
            <a:avLst/>
          </a:prstGeom>
        </p:spPr>
      </p:pic>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640080" y="41148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BEYOND GRADES</a:t>
            </a:r>
            <a:endParaRPr lang="en-US" sz="1100" dirty="0"/>
          </a:p>
        </p:txBody>
      </p:sp>
      <p:sp>
        <p:nvSpPr>
          <p:cNvPr id="3" name="Text 0"/>
          <p:cNvSpPr/>
          <p:nvPr>
            <p:ph idx="100" type="title" hasCustomPrompt="1"/>
          </p:nvPr>
        </p:nvSpPr>
        <p:spPr>
          <a:xfrm>
            <a:off x="640080" y="777240"/>
            <a:ext cx="10911535" cy="73152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Qualification across every area</a:t>
            </a:r>
            <a:endParaRPr lang="en-US" sz="3200" dirty="0"/>
          </a:p>
        </p:txBody>
      </p:sp>
      <p:sp>
        <p:nvSpPr>
          <p:cNvPr id="4" name="Icon circle"/>
          <p:cNvSpPr/>
          <p:nvPr/>
        </p:nvSpPr>
        <p:spPr>
          <a:xfrm>
            <a:off x="640080" y="1828800"/>
            <a:ext cx="512064" cy="512064"/>
          </a:xfrm>
          <a:prstGeom prst="ellipse">
            <a:avLst/>
          </a:prstGeom>
          <a:solidFill>
            <a:schemeClr val="bg2"/>
          </a:solidFill>
          <a:ln/>
        </p:spPr>
      </p:sp>
      <p:pic>
        <p:nvPicPr>
          <p:cNvPr id="5" name="Icon LuBookOpen" descr="preencoded.png">    </p:cNvPr>
          <p:cNvPicPr>
            <a:picLocks noChangeAspect="1"/>
          </p:cNvPicPr>
          <p:nvPr/>
        </p:nvPicPr>
        <p:blipFill>
          <a:blip r:embed="rId1"/>
          <a:stretch>
            <a:fillRect/>
          </a:stretch>
        </p:blipFill>
        <p:spPr>
          <a:xfrm>
            <a:off x="768096" y="1956816"/>
            <a:ext cx="256032" cy="256032"/>
          </a:xfrm>
          <a:prstGeom prst="rect">
            <a:avLst/>
          </a:prstGeom>
        </p:spPr>
      </p:pic>
      <p:sp>
        <p:nvSpPr>
          <p:cNvPr id="6" name="Text 3"/>
          <p:cNvSpPr txBox="1"/>
          <p:nvPr/>
        </p:nvSpPr>
        <p:spPr>
          <a:xfrm>
            <a:off x="1371600" y="1828800"/>
            <a:ext cx="2926080" cy="512064"/>
          </a:xfrm>
          <a:prstGeom prst="rect">
            <a:avLst/>
          </a:prstGeom>
          <a:noFill/>
          <a:ln/>
        </p:spPr>
        <p:txBody>
          <a:bodyPr wrap="square" lIns="0" tIns="0" rIns="0" bIns="0" rtlCol="0" anchor="ctr"/>
          <a:lstStyle/>
          <a:p>
            <a:pPr indent="0" marL="0">
              <a:buNone/>
            </a:pPr>
            <a:r>
              <a:rPr lang="en-US" sz="1600" dirty="0">
                <a:solidFill>
                  <a:schemeClr val="tx1"/>
                </a:solidFill>
              </a:rPr>
              <a:t>Academic</a:t>
            </a:r>
            <a:endParaRPr lang="en-US" sz="1600" dirty="0"/>
          </a:p>
        </p:txBody>
      </p:sp>
      <p:sp>
        <p:nvSpPr>
          <p:cNvPr id="7" name="Icon circle"/>
          <p:cNvSpPr/>
          <p:nvPr/>
        </p:nvSpPr>
        <p:spPr>
          <a:xfrm>
            <a:off x="640080" y="2542032"/>
            <a:ext cx="512064" cy="512064"/>
          </a:xfrm>
          <a:prstGeom prst="ellipse">
            <a:avLst/>
          </a:prstGeom>
          <a:solidFill>
            <a:schemeClr val="bg2"/>
          </a:solidFill>
          <a:ln/>
        </p:spPr>
      </p:sp>
      <p:pic>
        <p:nvPicPr>
          <p:cNvPr id="8" name="Icon LuAward" descr="preencoded.png">    </p:cNvPr>
          <p:cNvPicPr>
            <a:picLocks noChangeAspect="1"/>
          </p:cNvPicPr>
          <p:nvPr/>
        </p:nvPicPr>
        <p:blipFill>
          <a:blip r:embed="rId2"/>
          <a:stretch>
            <a:fillRect/>
          </a:stretch>
        </p:blipFill>
        <p:spPr>
          <a:xfrm>
            <a:off x="768096" y="2670048"/>
            <a:ext cx="256032" cy="256032"/>
          </a:xfrm>
          <a:prstGeom prst="rect">
            <a:avLst/>
          </a:prstGeom>
        </p:spPr>
      </p:pic>
      <p:sp>
        <p:nvSpPr>
          <p:cNvPr id="9" name="Text 5"/>
          <p:cNvSpPr txBox="1"/>
          <p:nvPr/>
        </p:nvSpPr>
        <p:spPr>
          <a:xfrm>
            <a:off x="1371600" y="2542032"/>
            <a:ext cx="2926080" cy="512064"/>
          </a:xfrm>
          <a:prstGeom prst="rect">
            <a:avLst/>
          </a:prstGeom>
          <a:noFill/>
          <a:ln/>
        </p:spPr>
        <p:txBody>
          <a:bodyPr wrap="square" lIns="0" tIns="0" rIns="0" bIns="0" rtlCol="0" anchor="ctr"/>
          <a:lstStyle/>
          <a:p>
            <a:pPr indent="0" marL="0">
              <a:buNone/>
            </a:pPr>
            <a:r>
              <a:rPr lang="en-US" sz="1600" dirty="0">
                <a:solidFill>
                  <a:schemeClr val="tx1"/>
                </a:solidFill>
              </a:rPr>
              <a:t>Military skills</a:t>
            </a:r>
            <a:endParaRPr lang="en-US" sz="1600" dirty="0"/>
          </a:p>
        </p:txBody>
      </p:sp>
      <p:sp>
        <p:nvSpPr>
          <p:cNvPr id="10" name="Icon circle"/>
          <p:cNvSpPr/>
          <p:nvPr/>
        </p:nvSpPr>
        <p:spPr>
          <a:xfrm>
            <a:off x="640080" y="3255264"/>
            <a:ext cx="512064" cy="512064"/>
          </a:xfrm>
          <a:prstGeom prst="ellipse">
            <a:avLst/>
          </a:prstGeom>
          <a:solidFill>
            <a:schemeClr val="bg2"/>
          </a:solidFill>
          <a:ln/>
        </p:spPr>
      </p:sp>
      <p:pic>
        <p:nvPicPr>
          <p:cNvPr id="11" name="Icon LuDumbbell" descr="preencoded.png">    </p:cNvPr>
          <p:cNvPicPr>
            <a:picLocks noChangeAspect="1"/>
          </p:cNvPicPr>
          <p:nvPr/>
        </p:nvPicPr>
        <p:blipFill>
          <a:blip r:embed="rId3"/>
          <a:stretch>
            <a:fillRect/>
          </a:stretch>
        </p:blipFill>
        <p:spPr>
          <a:xfrm>
            <a:off x="768096" y="3383280"/>
            <a:ext cx="256032" cy="256032"/>
          </a:xfrm>
          <a:prstGeom prst="rect">
            <a:avLst/>
          </a:prstGeom>
        </p:spPr>
      </p:pic>
      <p:sp>
        <p:nvSpPr>
          <p:cNvPr id="12" name="Text 7"/>
          <p:cNvSpPr txBox="1"/>
          <p:nvPr/>
        </p:nvSpPr>
        <p:spPr>
          <a:xfrm>
            <a:off x="1371600" y="3255264"/>
            <a:ext cx="2926080" cy="512064"/>
          </a:xfrm>
          <a:prstGeom prst="rect">
            <a:avLst/>
          </a:prstGeom>
          <a:noFill/>
          <a:ln/>
        </p:spPr>
        <p:txBody>
          <a:bodyPr wrap="square" lIns="0" tIns="0" rIns="0" bIns="0" rtlCol="0" anchor="ctr"/>
          <a:lstStyle/>
          <a:p>
            <a:pPr indent="0" marL="0">
              <a:buNone/>
            </a:pPr>
            <a:r>
              <a:rPr lang="en-US" sz="1600" dirty="0">
                <a:solidFill>
                  <a:schemeClr val="tx1"/>
                </a:solidFill>
              </a:rPr>
              <a:t>Physical fitness</a:t>
            </a:r>
            <a:endParaRPr lang="en-US" sz="1600" dirty="0"/>
          </a:p>
        </p:txBody>
      </p:sp>
      <p:sp>
        <p:nvSpPr>
          <p:cNvPr id="13" name="Icon circle"/>
          <p:cNvSpPr/>
          <p:nvPr/>
        </p:nvSpPr>
        <p:spPr>
          <a:xfrm>
            <a:off x="640080" y="3968496"/>
            <a:ext cx="512064" cy="512064"/>
          </a:xfrm>
          <a:prstGeom prst="ellipse">
            <a:avLst/>
          </a:prstGeom>
          <a:solidFill>
            <a:schemeClr val="bg2"/>
          </a:solidFill>
          <a:ln/>
        </p:spPr>
      </p:sp>
      <p:pic>
        <p:nvPicPr>
          <p:cNvPr id="14" name="Icon LuMedal" descr="preencoded.png">    </p:cNvPr>
          <p:cNvPicPr>
            <a:picLocks noChangeAspect="1"/>
          </p:cNvPicPr>
          <p:nvPr/>
        </p:nvPicPr>
        <p:blipFill>
          <a:blip r:embed="rId4"/>
          <a:stretch>
            <a:fillRect/>
          </a:stretch>
        </p:blipFill>
        <p:spPr>
          <a:xfrm>
            <a:off x="768096" y="4096512"/>
            <a:ext cx="256032" cy="256032"/>
          </a:xfrm>
          <a:prstGeom prst="rect">
            <a:avLst/>
          </a:prstGeom>
        </p:spPr>
      </p:pic>
      <p:sp>
        <p:nvSpPr>
          <p:cNvPr id="15" name="Text 9"/>
          <p:cNvSpPr txBox="1"/>
          <p:nvPr/>
        </p:nvSpPr>
        <p:spPr>
          <a:xfrm>
            <a:off x="1371600" y="3968496"/>
            <a:ext cx="2926080" cy="512064"/>
          </a:xfrm>
          <a:prstGeom prst="rect">
            <a:avLst/>
          </a:prstGeom>
          <a:noFill/>
          <a:ln/>
        </p:spPr>
        <p:txBody>
          <a:bodyPr wrap="square" lIns="0" tIns="0" rIns="0" bIns="0" rtlCol="0" anchor="ctr"/>
          <a:lstStyle/>
          <a:p>
            <a:pPr indent="0" marL="0">
              <a:buNone/>
            </a:pPr>
            <a:r>
              <a:rPr lang="en-US" sz="1600" dirty="0">
                <a:solidFill>
                  <a:schemeClr val="tx1"/>
                </a:solidFill>
              </a:rPr>
              <a:t>Conduct</a:t>
            </a:r>
            <a:endParaRPr lang="en-US" sz="1600" dirty="0"/>
          </a:p>
        </p:txBody>
      </p:sp>
      <p:sp>
        <p:nvSpPr>
          <p:cNvPr id="16" name="Icon circle"/>
          <p:cNvSpPr/>
          <p:nvPr/>
        </p:nvSpPr>
        <p:spPr>
          <a:xfrm>
            <a:off x="640080" y="4681728"/>
            <a:ext cx="512064" cy="512064"/>
          </a:xfrm>
          <a:prstGeom prst="ellipse">
            <a:avLst/>
          </a:prstGeom>
          <a:solidFill>
            <a:schemeClr val="bg2"/>
          </a:solidFill>
          <a:ln/>
        </p:spPr>
      </p:sp>
      <p:pic>
        <p:nvPicPr>
          <p:cNvPr id="17" name="Icon LuCalendarCheck" descr="preencoded.png">    </p:cNvPr>
          <p:cNvPicPr>
            <a:picLocks noChangeAspect="1"/>
          </p:cNvPicPr>
          <p:nvPr/>
        </p:nvPicPr>
        <p:blipFill>
          <a:blip r:embed="rId5"/>
          <a:stretch>
            <a:fillRect/>
          </a:stretch>
        </p:blipFill>
        <p:spPr>
          <a:xfrm>
            <a:off x="768096" y="4809744"/>
            <a:ext cx="256032" cy="256032"/>
          </a:xfrm>
          <a:prstGeom prst="rect">
            <a:avLst/>
          </a:prstGeom>
        </p:spPr>
      </p:pic>
      <p:sp>
        <p:nvSpPr>
          <p:cNvPr id="18" name="Text 11"/>
          <p:cNvSpPr txBox="1"/>
          <p:nvPr/>
        </p:nvSpPr>
        <p:spPr>
          <a:xfrm>
            <a:off x="1371600" y="4681728"/>
            <a:ext cx="2926080" cy="512064"/>
          </a:xfrm>
          <a:prstGeom prst="rect">
            <a:avLst/>
          </a:prstGeom>
          <a:noFill/>
          <a:ln/>
        </p:spPr>
        <p:txBody>
          <a:bodyPr wrap="square" lIns="0" tIns="0" rIns="0" bIns="0" rtlCol="0" anchor="ctr"/>
          <a:lstStyle/>
          <a:p>
            <a:pPr indent="0" marL="0">
              <a:buNone/>
            </a:pPr>
            <a:r>
              <a:rPr lang="en-US" sz="1600" dirty="0">
                <a:solidFill>
                  <a:schemeClr val="tx1"/>
                </a:solidFill>
              </a:rPr>
              <a:t>Attendance</a:t>
            </a:r>
            <a:endParaRPr lang="en-US" sz="1600" dirty="0"/>
          </a:p>
        </p:txBody>
      </p:sp>
      <p:sp>
        <p:nvSpPr>
          <p:cNvPr id="19" name="Text 12"/>
          <p:cNvSpPr txBox="1"/>
          <p:nvPr/>
        </p:nvSpPr>
        <p:spPr>
          <a:xfrm>
            <a:off x="640080" y="5486400"/>
            <a:ext cx="3566160" cy="640080"/>
          </a:xfrm>
          <a:prstGeom prst="rect">
            <a:avLst/>
          </a:prstGeom>
          <a:noFill/>
          <a:ln/>
        </p:spPr>
        <p:txBody>
          <a:bodyPr wrap="square" lIns="0" tIns="0" rIns="0" bIns="0" rtlCol="0" anchor="t"/>
          <a:lstStyle/>
          <a:p>
            <a:pPr indent="0" marL="0">
              <a:buNone/>
            </a:pPr>
            <a:r>
              <a:rPr lang="en-US" sz="1250" dirty="0">
                <a:solidFill>
                  <a:schemeClr val="accent6"/>
                </a:solidFill>
              </a:rPr>
              <a:t>Areas, weights, passing grades and must-pass rules are configurable. Class rank is for staff only.</a:t>
            </a:r>
            <a:endParaRPr lang="en-US" sz="1250" dirty="0"/>
          </a:p>
        </p:txBody>
      </p:sp>
      <p:sp>
        <p:nvSpPr>
          <p:cNvPr id="20" name="Screen frame"/>
          <p:cNvSpPr/>
          <p:nvPr/>
        </p:nvSpPr>
        <p:spPr>
          <a:xfrm>
            <a:off x="4343400" y="1783080"/>
            <a:ext cx="7205472" cy="4306824"/>
          </a:xfrm>
          <a:prstGeom prst="rect">
            <a:avLst/>
          </a:prstGeom>
          <a:solidFill>
            <a:schemeClr val="bg1"/>
          </a:solidFill>
          <a:ln w="9525">
            <a:solidFill>
              <a:srgbClr val="D5DED9"/>
            </a:solidFill>
            <a:prstDash val="solid"/>
          </a:ln>
          <a:effectLst>
            <a:outerShdw sx="100000" sy="100000" kx="0" ky="0" algn="bl" rotWithShape="0" blurRad="152400" dist="38100" dir="5400000">
              <a:srgbClr val="000000">
                <a:alpha val="12000"/>
              </a:srgbClr>
            </a:outerShdw>
          </a:effectLst>
        </p:spPr>
      </p:sp>
      <p:pic>
        <p:nvPicPr>
          <p:cNvPr id="21" name="Screen admin/qualification.png" descr="C:\Users\MAURICIO\AppData\Local\Temp\claude\C--Users-MAURICIO-Documents-student-portal\d461820b-a007-493b-9937-07ac2c972a48\scratchpad\deck\shots\admin\qualification.png">    </p:cNvPr>
          <p:cNvPicPr>
            <a:picLocks noChangeAspect="1"/>
          </p:cNvPicPr>
          <p:nvPr/>
        </p:nvPicPr>
        <p:blipFill>
          <a:blip r:embed="rId6"/>
          <a:stretch>
            <a:fillRect/>
          </a:stretch>
        </p:blipFill>
        <p:spPr>
          <a:xfrm>
            <a:off x="4343400" y="1783080"/>
            <a:ext cx="7205472" cy="4306824"/>
          </a:xfrm>
          <a:prstGeom prst="rect">
            <a:avLst/>
          </a:prstGeom>
        </p:spPr>
      </p:pic>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640080" y="41148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CANDIDATE PROFILE</a:t>
            </a:r>
            <a:endParaRPr lang="en-US" sz="1100" dirty="0"/>
          </a:p>
        </p:txBody>
      </p:sp>
      <p:sp>
        <p:nvSpPr>
          <p:cNvPr id="3" name="Text 0"/>
          <p:cNvSpPr/>
          <p:nvPr>
            <p:ph idx="100" type="title" hasCustomPrompt="1"/>
          </p:nvPr>
        </p:nvSpPr>
        <p:spPr>
          <a:xfrm>
            <a:off x="640080" y="777240"/>
            <a:ext cx="10911535" cy="73152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Every candidate on one page</a:t>
            </a:r>
            <a:endParaRPr lang="en-US" sz="3200" dirty="0"/>
          </a:p>
        </p:txBody>
      </p:sp>
      <p:sp>
        <p:nvSpPr>
          <p:cNvPr id="4" name="Screen frame"/>
          <p:cNvSpPr/>
          <p:nvPr/>
        </p:nvSpPr>
        <p:spPr>
          <a:xfrm>
            <a:off x="640080" y="1783080"/>
            <a:ext cx="7205472" cy="4306824"/>
          </a:xfrm>
          <a:prstGeom prst="rect">
            <a:avLst/>
          </a:prstGeom>
          <a:solidFill>
            <a:schemeClr val="bg1"/>
          </a:solidFill>
          <a:ln w="9525">
            <a:solidFill>
              <a:srgbClr val="D5DED9"/>
            </a:solidFill>
            <a:prstDash val="solid"/>
          </a:ln>
          <a:effectLst>
            <a:outerShdw sx="100000" sy="100000" kx="0" ky="0" algn="bl" rotWithShape="0" blurRad="152400" dist="38100" dir="5400000">
              <a:srgbClr val="000000">
                <a:alpha val="12000"/>
              </a:srgbClr>
            </a:outerShdw>
          </a:effectLst>
        </p:spPr>
      </p:sp>
      <p:pic>
        <p:nvPicPr>
          <p:cNvPr id="5" name="Screen admin/profile.png" descr="C:\Users\MAURICIO\AppData\Local\Temp\claude\C--Users-MAURICIO-Documents-student-portal\d461820b-a007-493b-9937-07ac2c972a48\scratchpad\deck\shots\admin\profile.png">    </p:cNvPr>
          <p:cNvPicPr>
            <a:picLocks noChangeAspect="1"/>
          </p:cNvPicPr>
          <p:nvPr/>
        </p:nvPicPr>
        <p:blipFill>
          <a:blip r:embed="rId1"/>
          <a:stretch>
            <a:fillRect/>
          </a:stretch>
        </p:blipFill>
        <p:spPr>
          <a:xfrm>
            <a:off x="640080" y="1783080"/>
            <a:ext cx="7205472" cy="4306824"/>
          </a:xfrm>
          <a:prstGeom prst="rect">
            <a:avLst/>
          </a:prstGeom>
        </p:spPr>
      </p:pic>
      <p:sp>
        <p:nvSpPr>
          <p:cNvPr id="6" name="Text 3"/>
          <p:cNvSpPr txBox="1"/>
          <p:nvPr/>
        </p:nvSpPr>
        <p:spPr>
          <a:xfrm>
            <a:off x="8229600" y="1828800"/>
            <a:ext cx="3337560" cy="384048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Personal and class details, with photo</a:t>
            </a:r>
            <a:endParaRPr lang="en-US" sz="1500" dirty="0"/>
          </a:p>
          <a:p>
            <a:pPr marL="342900" indent="-342900">
              <a:spcAft>
                <a:spcPts val="1200"/>
              </a:spcAft>
              <a:buSzPct val="100000"/>
              <a:buChar char="•"/>
            </a:pPr>
            <a:r>
              <a:rPr lang="en-US" sz="1500" dirty="0">
                <a:solidFill>
                  <a:schemeClr val="tx1"/>
                </a:solidFill>
              </a:rPr>
              <a:t>Subject grades and standing</a:t>
            </a:r>
            <a:endParaRPr lang="en-US" sz="1500" dirty="0"/>
          </a:p>
          <a:p>
            <a:pPr marL="342900" indent="-342900">
              <a:spcAft>
                <a:spcPts val="1200"/>
              </a:spcAft>
              <a:buSzPct val="100000"/>
              <a:buChar char="•"/>
            </a:pPr>
            <a:r>
              <a:rPr lang="en-US" sz="1500" dirty="0">
                <a:solidFill>
                  <a:schemeClr val="tx1"/>
                </a:solidFill>
              </a:rPr>
              <a:t>Examination results</a:t>
            </a:r>
            <a:endParaRPr lang="en-US" sz="1500" dirty="0"/>
          </a:p>
          <a:p>
            <a:pPr marL="342900" indent="-342900">
              <a:spcAft>
                <a:spcPts val="1200"/>
              </a:spcAft>
              <a:buSzPct val="100000"/>
              <a:buChar char="•"/>
            </a:pPr>
            <a:r>
              <a:rPr lang="en-US" sz="1500" dirty="0">
                <a:solidFill>
                  <a:schemeClr val="tx1"/>
                </a:solidFill>
              </a:rPr>
              <a:t>Fitness, merits and demerits, attendance</a:t>
            </a:r>
            <a:endParaRPr lang="en-US" sz="1500" dirty="0"/>
          </a:p>
          <a:p>
            <a:pPr marL="342900" indent="-342900">
              <a:spcAft>
                <a:spcPts val="1200"/>
              </a:spcAft>
              <a:buSzPct val="100000"/>
              <a:buChar char="•"/>
            </a:pPr>
            <a:r>
              <a:rPr lang="en-US" sz="1500" dirty="0">
                <a:solidFill>
                  <a:schemeClr val="tx1"/>
                </a:solidFill>
              </a:rPr>
              <a:t>Registration and academic record PDFs</a:t>
            </a:r>
            <a:endParaRPr lang="en-US" sz="1500" dirty="0"/>
          </a:p>
        </p:txBody>
      </p:sp>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640080" y="41148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BUILT FOR THE INSTITUTION</a:t>
            </a:r>
            <a:endParaRPr lang="en-US" sz="1100" dirty="0"/>
          </a:p>
        </p:txBody>
      </p:sp>
      <p:sp>
        <p:nvSpPr>
          <p:cNvPr id="3" name="Text 0"/>
          <p:cNvSpPr/>
          <p:nvPr>
            <p:ph idx="100" type="title" hasCustomPrompt="1"/>
          </p:nvPr>
        </p:nvSpPr>
        <p:spPr>
          <a:xfrm>
            <a:off x="640080" y="777240"/>
            <a:ext cx="10911535" cy="73152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Secure, traceable, and on your own network</a:t>
            </a:r>
            <a:endParaRPr lang="en-US" sz="3200" dirty="0"/>
          </a:p>
        </p:txBody>
      </p:sp>
      <p:sp>
        <p:nvSpPr>
          <p:cNvPr id="4" name="Icon circle"/>
          <p:cNvSpPr/>
          <p:nvPr/>
        </p:nvSpPr>
        <p:spPr>
          <a:xfrm>
            <a:off x="640080" y="1828800"/>
            <a:ext cx="566928" cy="566928"/>
          </a:xfrm>
          <a:prstGeom prst="ellipse">
            <a:avLst/>
          </a:prstGeom>
          <a:solidFill>
            <a:schemeClr val="bg2"/>
          </a:solidFill>
          <a:ln/>
        </p:spPr>
      </p:sp>
      <p:pic>
        <p:nvPicPr>
          <p:cNvPr id="5" name="Icon LuNetwork" descr="preencoded.png">    </p:cNvPr>
          <p:cNvPicPr>
            <a:picLocks noChangeAspect="1"/>
          </p:cNvPicPr>
          <p:nvPr/>
        </p:nvPicPr>
        <p:blipFill>
          <a:blip r:embed="rId1"/>
          <a:stretch>
            <a:fillRect/>
          </a:stretch>
        </p:blipFill>
        <p:spPr>
          <a:xfrm>
            <a:off x="781812" y="1970532"/>
            <a:ext cx="283464" cy="283464"/>
          </a:xfrm>
          <a:prstGeom prst="rect">
            <a:avLst/>
          </a:prstGeom>
        </p:spPr>
      </p:pic>
      <p:sp>
        <p:nvSpPr>
          <p:cNvPr id="6" name="Text 3"/>
          <p:cNvSpPr txBox="1"/>
          <p:nvPr/>
        </p:nvSpPr>
        <p:spPr>
          <a:xfrm>
            <a:off x="1417320" y="1847088"/>
            <a:ext cx="2743200" cy="4114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Internal network</a:t>
            </a:r>
            <a:endParaRPr lang="en-US" sz="1700" dirty="0"/>
          </a:p>
        </p:txBody>
      </p:sp>
      <p:sp>
        <p:nvSpPr>
          <p:cNvPr id="7" name="Text 4"/>
          <p:cNvSpPr txBox="1"/>
          <p:nvPr/>
        </p:nvSpPr>
        <p:spPr>
          <a:xfrm>
            <a:off x="1417320" y="2286000"/>
            <a:ext cx="2743200" cy="1097280"/>
          </a:xfrm>
          <a:prstGeom prst="rect">
            <a:avLst/>
          </a:prstGeom>
          <a:noFill/>
          <a:ln/>
        </p:spPr>
        <p:txBody>
          <a:bodyPr wrap="square" lIns="0" tIns="0" rIns="0" bIns="0" rtlCol="0" anchor="t"/>
          <a:lstStyle/>
          <a:p>
            <a:pPr indent="0" marL="0">
              <a:buNone/>
            </a:pPr>
            <a:r>
              <a:rPr lang="en-US" sz="1350" dirty="0">
                <a:solidFill>
                  <a:schemeClr val="accent6"/>
                </a:solidFill>
              </a:rPr>
              <a:t>Runs on the LAN and private Wi-Fi; no public internet or cloud services needed.</a:t>
            </a:r>
            <a:endParaRPr lang="en-US" sz="1350" dirty="0"/>
          </a:p>
        </p:txBody>
      </p:sp>
      <p:sp>
        <p:nvSpPr>
          <p:cNvPr id="8" name="Icon circle"/>
          <p:cNvSpPr/>
          <p:nvPr/>
        </p:nvSpPr>
        <p:spPr>
          <a:xfrm>
            <a:off x="4343400" y="1828800"/>
            <a:ext cx="566928" cy="566928"/>
          </a:xfrm>
          <a:prstGeom prst="ellipse">
            <a:avLst/>
          </a:prstGeom>
          <a:solidFill>
            <a:schemeClr val="bg2"/>
          </a:solidFill>
          <a:ln/>
        </p:spPr>
      </p:sp>
      <p:pic>
        <p:nvPicPr>
          <p:cNvPr id="9" name="Icon LuShieldCheck" descr="preencoded.png">    </p:cNvPr>
          <p:cNvPicPr>
            <a:picLocks noChangeAspect="1"/>
          </p:cNvPicPr>
          <p:nvPr/>
        </p:nvPicPr>
        <p:blipFill>
          <a:blip r:embed="rId2"/>
          <a:stretch>
            <a:fillRect/>
          </a:stretch>
        </p:blipFill>
        <p:spPr>
          <a:xfrm>
            <a:off x="4485132" y="1970532"/>
            <a:ext cx="283464" cy="283464"/>
          </a:xfrm>
          <a:prstGeom prst="rect">
            <a:avLst/>
          </a:prstGeom>
        </p:spPr>
      </p:pic>
      <p:sp>
        <p:nvSpPr>
          <p:cNvPr id="10" name="Text 6"/>
          <p:cNvSpPr txBox="1"/>
          <p:nvPr/>
        </p:nvSpPr>
        <p:spPr>
          <a:xfrm>
            <a:off x="5120640" y="1847088"/>
            <a:ext cx="2743200" cy="4114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Permission checks</a:t>
            </a:r>
            <a:endParaRPr lang="en-US" sz="1700" dirty="0"/>
          </a:p>
        </p:txBody>
      </p:sp>
      <p:sp>
        <p:nvSpPr>
          <p:cNvPr id="11" name="Text 7"/>
          <p:cNvSpPr txBox="1"/>
          <p:nvPr/>
        </p:nvSpPr>
        <p:spPr>
          <a:xfrm>
            <a:off x="5120640" y="2286000"/>
            <a:ext cx="2743200" cy="1097280"/>
          </a:xfrm>
          <a:prstGeom prst="rect">
            <a:avLst/>
          </a:prstGeom>
          <a:noFill/>
          <a:ln/>
        </p:spPr>
        <p:txBody>
          <a:bodyPr wrap="square" lIns="0" tIns="0" rIns="0" bIns="0" rtlCol="0" anchor="t"/>
          <a:lstStyle/>
          <a:p>
            <a:pPr indent="0" marL="0">
              <a:buNone/>
            </a:pPr>
            <a:r>
              <a:rPr lang="en-US" sz="1350" dirty="0">
                <a:solidFill>
                  <a:schemeClr val="accent6"/>
                </a:solidFill>
              </a:rPr>
              <a:t>Every request is authorised on the server, not by hidden buttons.</a:t>
            </a:r>
            <a:endParaRPr lang="en-US" sz="1350" dirty="0"/>
          </a:p>
        </p:txBody>
      </p:sp>
      <p:sp>
        <p:nvSpPr>
          <p:cNvPr id="12" name="Icon circle"/>
          <p:cNvSpPr/>
          <p:nvPr/>
        </p:nvSpPr>
        <p:spPr>
          <a:xfrm>
            <a:off x="8046720" y="1828800"/>
            <a:ext cx="566928" cy="566928"/>
          </a:xfrm>
          <a:prstGeom prst="ellipse">
            <a:avLst/>
          </a:prstGeom>
          <a:solidFill>
            <a:schemeClr val="bg2"/>
          </a:solidFill>
          <a:ln/>
        </p:spPr>
      </p:sp>
      <p:pic>
        <p:nvPicPr>
          <p:cNvPr id="13" name="Icon LuHistory" descr="preencoded.png">    </p:cNvPr>
          <p:cNvPicPr>
            <a:picLocks noChangeAspect="1"/>
          </p:cNvPicPr>
          <p:nvPr/>
        </p:nvPicPr>
        <p:blipFill>
          <a:blip r:embed="rId3"/>
          <a:stretch>
            <a:fillRect/>
          </a:stretch>
        </p:blipFill>
        <p:spPr>
          <a:xfrm>
            <a:off x="8188452" y="1970532"/>
            <a:ext cx="283464" cy="283464"/>
          </a:xfrm>
          <a:prstGeom prst="rect">
            <a:avLst/>
          </a:prstGeom>
        </p:spPr>
      </p:pic>
      <p:sp>
        <p:nvSpPr>
          <p:cNvPr id="14" name="Text 9"/>
          <p:cNvSpPr txBox="1"/>
          <p:nvPr/>
        </p:nvSpPr>
        <p:spPr>
          <a:xfrm>
            <a:off x="8823960" y="1847088"/>
            <a:ext cx="2743200" cy="4114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Audit trail</a:t>
            </a:r>
            <a:endParaRPr lang="en-US" sz="1700" dirty="0"/>
          </a:p>
        </p:txBody>
      </p:sp>
      <p:sp>
        <p:nvSpPr>
          <p:cNvPr id="15" name="Text 10"/>
          <p:cNvSpPr txBox="1"/>
          <p:nvPr/>
        </p:nvSpPr>
        <p:spPr>
          <a:xfrm>
            <a:off x="8823960" y="2286000"/>
            <a:ext cx="2743200" cy="1097280"/>
          </a:xfrm>
          <a:prstGeom prst="rect">
            <a:avLst/>
          </a:prstGeom>
          <a:noFill/>
          <a:ln/>
        </p:spPr>
        <p:txBody>
          <a:bodyPr wrap="square" lIns="0" tIns="0" rIns="0" bIns="0" rtlCol="0" anchor="t"/>
          <a:lstStyle/>
          <a:p>
            <a:pPr indent="0" marL="0">
              <a:buNone/>
            </a:pPr>
            <a:r>
              <a:rPr lang="en-US" sz="1350" dirty="0">
                <a:solidFill>
                  <a:schemeClr val="accent6"/>
                </a:solidFill>
              </a:rPr>
              <a:t>Sign-ins, grade changes, publications and role changes are recorded.</a:t>
            </a:r>
            <a:endParaRPr lang="en-US" sz="1350" dirty="0"/>
          </a:p>
        </p:txBody>
      </p:sp>
      <p:sp>
        <p:nvSpPr>
          <p:cNvPr id="16" name="Icon circle"/>
          <p:cNvSpPr/>
          <p:nvPr/>
        </p:nvSpPr>
        <p:spPr>
          <a:xfrm>
            <a:off x="640080" y="3794760"/>
            <a:ext cx="566928" cy="566928"/>
          </a:xfrm>
          <a:prstGeom prst="ellipse">
            <a:avLst/>
          </a:prstGeom>
          <a:solidFill>
            <a:schemeClr val="bg2"/>
          </a:solidFill>
          <a:ln/>
        </p:spPr>
      </p:sp>
      <p:pic>
        <p:nvPicPr>
          <p:cNvPr id="17" name="Icon LuDatabaseBackup" descr="preencoded.png">    </p:cNvPr>
          <p:cNvPicPr>
            <a:picLocks noChangeAspect="1"/>
          </p:cNvPicPr>
          <p:nvPr/>
        </p:nvPicPr>
        <p:blipFill>
          <a:blip r:embed="rId4"/>
          <a:stretch>
            <a:fillRect/>
          </a:stretch>
        </p:blipFill>
        <p:spPr>
          <a:xfrm>
            <a:off x="781812" y="3936492"/>
            <a:ext cx="283464" cy="283464"/>
          </a:xfrm>
          <a:prstGeom prst="rect">
            <a:avLst/>
          </a:prstGeom>
        </p:spPr>
      </p:pic>
      <p:sp>
        <p:nvSpPr>
          <p:cNvPr id="18" name="Text 12"/>
          <p:cNvSpPr txBox="1"/>
          <p:nvPr/>
        </p:nvSpPr>
        <p:spPr>
          <a:xfrm>
            <a:off x="1417320" y="3813048"/>
            <a:ext cx="2743200" cy="4114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Backups</a:t>
            </a:r>
            <a:endParaRPr lang="en-US" sz="1700" dirty="0"/>
          </a:p>
        </p:txBody>
      </p:sp>
      <p:sp>
        <p:nvSpPr>
          <p:cNvPr id="19" name="Text 13"/>
          <p:cNvSpPr txBox="1"/>
          <p:nvPr/>
        </p:nvSpPr>
        <p:spPr>
          <a:xfrm>
            <a:off x="1417320" y="4251960"/>
            <a:ext cx="2743200" cy="1097280"/>
          </a:xfrm>
          <a:prstGeom prst="rect">
            <a:avLst/>
          </a:prstGeom>
          <a:noFill/>
          <a:ln/>
        </p:spPr>
        <p:txBody>
          <a:bodyPr wrap="square" lIns="0" tIns="0" rIns="0" bIns="0" rtlCol="0" anchor="t"/>
          <a:lstStyle/>
          <a:p>
            <a:pPr indent="0" marL="0">
              <a:buNone/>
            </a:pPr>
            <a:r>
              <a:rPr lang="en-US" sz="1350" dirty="0">
                <a:solidFill>
                  <a:schemeClr val="accent6"/>
                </a:solidFill>
              </a:rPr>
              <a:t>Database and uploaded files backed up, with tested restores.</a:t>
            </a:r>
            <a:endParaRPr lang="en-US" sz="1350" dirty="0"/>
          </a:p>
        </p:txBody>
      </p:sp>
      <p:sp>
        <p:nvSpPr>
          <p:cNvPr id="20" name="Icon circle"/>
          <p:cNvSpPr/>
          <p:nvPr/>
        </p:nvSpPr>
        <p:spPr>
          <a:xfrm>
            <a:off x="4343400" y="3794760"/>
            <a:ext cx="566928" cy="566928"/>
          </a:xfrm>
          <a:prstGeom prst="ellipse">
            <a:avLst/>
          </a:prstGeom>
          <a:solidFill>
            <a:schemeClr val="bg2"/>
          </a:solidFill>
          <a:ln/>
        </p:spPr>
      </p:sp>
      <p:pic>
        <p:nvPicPr>
          <p:cNvPr id="21" name="Icon LuServer" descr="preencoded.png">    </p:cNvPr>
          <p:cNvPicPr>
            <a:picLocks noChangeAspect="1"/>
          </p:cNvPicPr>
          <p:nvPr/>
        </p:nvPicPr>
        <p:blipFill>
          <a:blip r:embed="rId5"/>
          <a:stretch>
            <a:fillRect/>
          </a:stretch>
        </p:blipFill>
        <p:spPr>
          <a:xfrm>
            <a:off x="4485132" y="3936492"/>
            <a:ext cx="283464" cy="283464"/>
          </a:xfrm>
          <a:prstGeom prst="rect">
            <a:avLst/>
          </a:prstGeom>
        </p:spPr>
      </p:pic>
      <p:sp>
        <p:nvSpPr>
          <p:cNvPr id="22" name="Text 15"/>
          <p:cNvSpPr txBox="1"/>
          <p:nvPr/>
        </p:nvSpPr>
        <p:spPr>
          <a:xfrm>
            <a:off x="5120640" y="3813048"/>
            <a:ext cx="2743200" cy="4114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Simple to host</a:t>
            </a:r>
            <a:endParaRPr lang="en-US" sz="1700" dirty="0"/>
          </a:p>
        </p:txBody>
      </p:sp>
      <p:sp>
        <p:nvSpPr>
          <p:cNvPr id="23" name="Text 16"/>
          <p:cNvSpPr txBox="1"/>
          <p:nvPr/>
        </p:nvSpPr>
        <p:spPr>
          <a:xfrm>
            <a:off x="5120640" y="4251960"/>
            <a:ext cx="2743200" cy="1097280"/>
          </a:xfrm>
          <a:prstGeom prst="rect">
            <a:avLst/>
          </a:prstGeom>
          <a:noFill/>
          <a:ln/>
        </p:spPr>
        <p:txBody>
          <a:bodyPr wrap="square" lIns="0" tIns="0" rIns="0" bIns="0" rtlCol="0" anchor="t"/>
          <a:lstStyle/>
          <a:p>
            <a:pPr indent="0" marL="0">
              <a:buNone/>
            </a:pPr>
            <a:r>
              <a:rPr lang="en-US" sz="1350" dirty="0">
                <a:solidFill>
                  <a:schemeClr val="accent6"/>
                </a:solidFill>
              </a:rPr>
              <a:t>One Laravel application and one MySQL/MariaDB database.</a:t>
            </a:r>
            <a:endParaRPr lang="en-US" sz="1350" dirty="0"/>
          </a:p>
        </p:txBody>
      </p:sp>
      <p:sp>
        <p:nvSpPr>
          <p:cNvPr id="24" name="Icon circle"/>
          <p:cNvSpPr/>
          <p:nvPr/>
        </p:nvSpPr>
        <p:spPr>
          <a:xfrm>
            <a:off x="8046720" y="3794760"/>
            <a:ext cx="566928" cy="566928"/>
          </a:xfrm>
          <a:prstGeom prst="ellipse">
            <a:avLst/>
          </a:prstGeom>
          <a:solidFill>
            <a:schemeClr val="bg2"/>
          </a:solidFill>
          <a:ln/>
        </p:spPr>
      </p:sp>
      <p:pic>
        <p:nvPicPr>
          <p:cNvPr id="25" name="Icon LuSearchCheck" descr="preencoded.png">    </p:cNvPr>
          <p:cNvPicPr>
            <a:picLocks noChangeAspect="1"/>
          </p:cNvPicPr>
          <p:nvPr/>
        </p:nvPicPr>
        <p:blipFill>
          <a:blip r:embed="rId6"/>
          <a:stretch>
            <a:fillRect/>
          </a:stretch>
        </p:blipFill>
        <p:spPr>
          <a:xfrm>
            <a:off x="8188452" y="3936492"/>
            <a:ext cx="283464" cy="283464"/>
          </a:xfrm>
          <a:prstGeom prst="rect">
            <a:avLst/>
          </a:prstGeom>
        </p:spPr>
      </p:pic>
      <p:sp>
        <p:nvSpPr>
          <p:cNvPr id="26" name="Text 18"/>
          <p:cNvSpPr txBox="1"/>
          <p:nvPr/>
        </p:nvSpPr>
        <p:spPr>
          <a:xfrm>
            <a:off x="8823960" y="3813048"/>
            <a:ext cx="2743200" cy="41148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Tested</a:t>
            </a:r>
            <a:endParaRPr lang="en-US" sz="1700" dirty="0"/>
          </a:p>
        </p:txBody>
      </p:sp>
      <p:sp>
        <p:nvSpPr>
          <p:cNvPr id="27" name="Text 19"/>
          <p:cNvSpPr txBox="1"/>
          <p:nvPr/>
        </p:nvSpPr>
        <p:spPr>
          <a:xfrm>
            <a:off x="8823960" y="4251960"/>
            <a:ext cx="2743200" cy="1097280"/>
          </a:xfrm>
          <a:prstGeom prst="rect">
            <a:avLst/>
          </a:prstGeom>
          <a:noFill/>
          <a:ln/>
        </p:spPr>
        <p:txBody>
          <a:bodyPr wrap="square" lIns="0" tIns="0" rIns="0" bIns="0" rtlCol="0" anchor="t"/>
          <a:lstStyle/>
          <a:p>
            <a:pPr indent="0" marL="0">
              <a:buNone/>
            </a:pPr>
            <a:r>
              <a:rPr lang="en-US" sz="1350" dirty="0">
                <a:solidFill>
                  <a:schemeClr val="accent6"/>
                </a:solidFill>
              </a:rPr>
              <a:t>Automated tests cover grading, examinations and access rules.</a:t>
            </a:r>
            <a:endParaRPr lang="en-US" sz="1350" dirty="0"/>
          </a:p>
        </p:txBody>
      </p:sp>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640080" y="41148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WHERE WE ARE</a:t>
            </a:r>
            <a:endParaRPr lang="en-US" sz="1100" dirty="0"/>
          </a:p>
        </p:txBody>
      </p:sp>
      <p:sp>
        <p:nvSpPr>
          <p:cNvPr id="3" name="Text 0"/>
          <p:cNvSpPr/>
          <p:nvPr>
            <p:ph idx="100" type="title" hasCustomPrompt="1"/>
          </p:nvPr>
        </p:nvSpPr>
        <p:spPr>
          <a:xfrm>
            <a:off x="640080" y="777240"/>
            <a:ext cx="10911535" cy="73152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Ready for review and tablet trials</a:t>
            </a:r>
            <a:endParaRPr lang="en-US" sz="3200" dirty="0"/>
          </a:p>
        </p:txBody>
      </p:sp>
      <p:sp>
        <p:nvSpPr>
          <p:cNvPr id="4" name="Text 2"/>
          <p:cNvSpPr txBox="1"/>
          <p:nvPr/>
        </p:nvSpPr>
        <p:spPr>
          <a:xfrm>
            <a:off x="640080" y="1828800"/>
            <a:ext cx="3383280" cy="1005840"/>
          </a:xfrm>
          <a:prstGeom prst="rect">
            <a:avLst/>
          </a:prstGeom>
          <a:noFill/>
          <a:ln/>
        </p:spPr>
        <p:txBody>
          <a:bodyPr wrap="square" lIns="0" tIns="0" rIns="0" bIns="0" rtlCol="0" anchor="ctr"/>
          <a:lstStyle/>
          <a:p>
            <a:pPr indent="0" marL="0">
              <a:buNone/>
            </a:pPr>
            <a:r>
              <a:rPr lang="en-US" sz="6000" b="1" dirty="0">
                <a:solidFill>
                  <a:schemeClr val="tx2"/>
                </a:solidFill>
                <a:latin typeface="Cambria" pitchFamily="34" charset="0"/>
                <a:ea typeface="Cambria" pitchFamily="34" charset="-122"/>
                <a:cs typeface="Cambria" pitchFamily="34" charset="-120"/>
              </a:rPr>
              <a:t>20</a:t>
            </a:r>
            <a:endParaRPr lang="en-US" sz="6000" dirty="0"/>
          </a:p>
        </p:txBody>
      </p:sp>
      <p:sp>
        <p:nvSpPr>
          <p:cNvPr id="5" name="Text 3"/>
          <p:cNvSpPr txBox="1"/>
          <p:nvPr/>
        </p:nvSpPr>
        <p:spPr>
          <a:xfrm>
            <a:off x="640080" y="2834640"/>
            <a:ext cx="3108960" cy="457200"/>
          </a:xfrm>
          <a:prstGeom prst="rect">
            <a:avLst/>
          </a:prstGeom>
          <a:noFill/>
          <a:ln/>
        </p:spPr>
        <p:txBody>
          <a:bodyPr wrap="square" lIns="0" tIns="0" rIns="0" bIns="0" rtlCol="0" anchor="ctr"/>
          <a:lstStyle/>
          <a:p>
            <a:pPr indent="0" marL="0">
              <a:buNone/>
            </a:pPr>
            <a:r>
              <a:rPr lang="en-US" sz="1500" dirty="0">
                <a:solidFill>
                  <a:schemeClr val="accent6"/>
                </a:solidFill>
              </a:rPr>
              <a:t>development milestones completed</a:t>
            </a:r>
            <a:endParaRPr lang="en-US" sz="1500" dirty="0"/>
          </a:p>
        </p:txBody>
      </p:sp>
      <p:sp>
        <p:nvSpPr>
          <p:cNvPr id="6" name="Text 4"/>
          <p:cNvSpPr txBox="1"/>
          <p:nvPr/>
        </p:nvSpPr>
        <p:spPr>
          <a:xfrm>
            <a:off x="4343400" y="1828800"/>
            <a:ext cx="3383280" cy="1005840"/>
          </a:xfrm>
          <a:prstGeom prst="rect">
            <a:avLst/>
          </a:prstGeom>
          <a:noFill/>
          <a:ln/>
        </p:spPr>
        <p:txBody>
          <a:bodyPr wrap="square" lIns="0" tIns="0" rIns="0" bIns="0" rtlCol="0" anchor="ctr"/>
          <a:lstStyle/>
          <a:p>
            <a:pPr indent="0" marL="0">
              <a:buNone/>
            </a:pPr>
            <a:r>
              <a:rPr lang="en-US" sz="6000" b="1" dirty="0">
                <a:solidFill>
                  <a:schemeClr val="tx2"/>
                </a:solidFill>
                <a:latin typeface="Cambria" pitchFamily="34" charset="0"/>
                <a:ea typeface="Cambria" pitchFamily="34" charset="-122"/>
                <a:cs typeface="Cambria" pitchFamily="34" charset="-120"/>
              </a:rPr>
              <a:t>1,400+</a:t>
            </a:r>
            <a:endParaRPr lang="en-US" sz="6000" dirty="0"/>
          </a:p>
        </p:txBody>
      </p:sp>
      <p:sp>
        <p:nvSpPr>
          <p:cNvPr id="7" name="Text 5"/>
          <p:cNvSpPr txBox="1"/>
          <p:nvPr/>
        </p:nvSpPr>
        <p:spPr>
          <a:xfrm>
            <a:off x="4343400" y="2834640"/>
            <a:ext cx="3108960" cy="457200"/>
          </a:xfrm>
          <a:prstGeom prst="rect">
            <a:avLst/>
          </a:prstGeom>
          <a:noFill/>
          <a:ln/>
        </p:spPr>
        <p:txBody>
          <a:bodyPr wrap="square" lIns="0" tIns="0" rIns="0" bIns="0" rtlCol="0" anchor="ctr"/>
          <a:lstStyle/>
          <a:p>
            <a:pPr indent="0" marL="0">
              <a:buNone/>
            </a:pPr>
            <a:r>
              <a:rPr lang="en-US" sz="1500" dirty="0">
                <a:solidFill>
                  <a:schemeClr val="accent6"/>
                </a:solidFill>
              </a:rPr>
              <a:t>automated tests passing</a:t>
            </a:r>
            <a:endParaRPr lang="en-US" sz="1500" dirty="0"/>
          </a:p>
        </p:txBody>
      </p:sp>
      <p:sp>
        <p:nvSpPr>
          <p:cNvPr id="8" name="Text 6"/>
          <p:cNvSpPr txBox="1"/>
          <p:nvPr/>
        </p:nvSpPr>
        <p:spPr>
          <a:xfrm>
            <a:off x="8046720" y="1828800"/>
            <a:ext cx="3383280" cy="1005840"/>
          </a:xfrm>
          <a:prstGeom prst="rect">
            <a:avLst/>
          </a:prstGeom>
          <a:noFill/>
          <a:ln/>
        </p:spPr>
        <p:txBody>
          <a:bodyPr wrap="square" lIns="0" tIns="0" rIns="0" bIns="0" rtlCol="0" anchor="ctr"/>
          <a:lstStyle/>
          <a:p>
            <a:pPr indent="0" marL="0">
              <a:buNone/>
            </a:pPr>
            <a:r>
              <a:rPr lang="en-US" sz="6000" b="1" dirty="0">
                <a:solidFill>
                  <a:schemeClr val="tx2"/>
                </a:solidFill>
                <a:latin typeface="Cambria" pitchFamily="34" charset="0"/>
                <a:ea typeface="Cambria" pitchFamily="34" charset="-122"/>
                <a:cs typeface="Cambria" pitchFamily="34" charset="-120"/>
              </a:rPr>
              <a:t>4</a:t>
            </a:r>
            <a:endParaRPr lang="en-US" sz="6000" dirty="0"/>
          </a:p>
        </p:txBody>
      </p:sp>
      <p:sp>
        <p:nvSpPr>
          <p:cNvPr id="9" name="Text 7"/>
          <p:cNvSpPr txBox="1"/>
          <p:nvPr/>
        </p:nvSpPr>
        <p:spPr>
          <a:xfrm>
            <a:off x="8046720" y="2834640"/>
            <a:ext cx="3108960" cy="457200"/>
          </a:xfrm>
          <a:prstGeom prst="rect">
            <a:avLst/>
          </a:prstGeom>
          <a:noFill/>
          <a:ln/>
        </p:spPr>
        <p:txBody>
          <a:bodyPr wrap="square" lIns="0" tIns="0" rIns="0" bIns="0" rtlCol="0" anchor="ctr"/>
          <a:lstStyle/>
          <a:p>
            <a:pPr indent="0" marL="0">
              <a:buNone/>
            </a:pPr>
            <a:r>
              <a:rPr lang="en-US" sz="1500" dirty="0">
                <a:solidFill>
                  <a:schemeClr val="accent6"/>
                </a:solidFill>
              </a:rPr>
              <a:t>roles with their own views</a:t>
            </a:r>
            <a:endParaRPr lang="en-US" sz="1500" dirty="0"/>
          </a:p>
        </p:txBody>
      </p:sp>
      <p:sp>
        <p:nvSpPr>
          <p:cNvPr id="10" name="Text 8"/>
          <p:cNvSpPr txBox="1"/>
          <p:nvPr/>
        </p:nvSpPr>
        <p:spPr>
          <a:xfrm>
            <a:off x="640080" y="3886200"/>
            <a:ext cx="548640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Next steps</a:t>
            </a:r>
            <a:endParaRPr lang="en-US" sz="2000" dirty="0"/>
          </a:p>
        </p:txBody>
      </p:sp>
      <p:sp>
        <p:nvSpPr>
          <p:cNvPr id="11" name="Text 9"/>
          <p:cNvSpPr txBox="1"/>
          <p:nvPr/>
        </p:nvSpPr>
        <p:spPr>
          <a:xfrm>
            <a:off x="640080" y="448056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 10"/>
          <p:cNvSpPr txBox="1"/>
          <p:nvPr/>
        </p:nvSpPr>
        <p:spPr>
          <a:xfrm>
            <a:off x="1234440" y="4434840"/>
            <a:ext cx="2834640" cy="1097280"/>
          </a:xfrm>
          <a:prstGeom prst="rect">
            <a:avLst/>
          </a:prstGeom>
          <a:noFill/>
          <a:ln/>
        </p:spPr>
        <p:txBody>
          <a:bodyPr wrap="square" lIns="0" tIns="0" rIns="0" bIns="0" rtlCol="0" anchor="t"/>
          <a:lstStyle/>
          <a:p>
            <a:pPr indent="0" marL="0">
              <a:buNone/>
            </a:pPr>
            <a:r>
              <a:rPr lang="en-US" sz="1400" dirty="0">
                <a:solidFill>
                  <a:schemeClr val="tx1"/>
                </a:solidFill>
              </a:rPr>
              <a:t>Confirm the official grading SOP, area weights and fitness points tables</a:t>
            </a:r>
            <a:endParaRPr lang="en-US" sz="1400" dirty="0"/>
          </a:p>
        </p:txBody>
      </p:sp>
      <p:sp>
        <p:nvSpPr>
          <p:cNvPr id="13" name="Text 11"/>
          <p:cNvSpPr txBox="1"/>
          <p:nvPr/>
        </p:nvSpPr>
        <p:spPr>
          <a:xfrm>
            <a:off x="4343400" y="448056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2"/>
          <p:cNvSpPr txBox="1"/>
          <p:nvPr/>
        </p:nvSpPr>
        <p:spPr>
          <a:xfrm>
            <a:off x="4937760" y="4434840"/>
            <a:ext cx="2834640" cy="1097280"/>
          </a:xfrm>
          <a:prstGeom prst="rect">
            <a:avLst/>
          </a:prstGeom>
          <a:noFill/>
          <a:ln/>
        </p:spPr>
        <p:txBody>
          <a:bodyPr wrap="square" lIns="0" tIns="0" rIns="0" bIns="0" rtlCol="0" anchor="t"/>
          <a:lstStyle/>
          <a:p>
            <a:pPr indent="0" marL="0">
              <a:buNone/>
            </a:pPr>
            <a:r>
              <a:rPr lang="en-US" sz="1400" dirty="0">
                <a:solidFill>
                  <a:schemeClr val="tx1"/>
                </a:solidFill>
              </a:rPr>
              <a:t>Trial on the institution's tablets and Wi-Fi</a:t>
            </a:r>
            <a:endParaRPr lang="en-US" sz="1400" dirty="0"/>
          </a:p>
        </p:txBody>
      </p:sp>
      <p:sp>
        <p:nvSpPr>
          <p:cNvPr id="15" name="Text 13"/>
          <p:cNvSpPr txBox="1"/>
          <p:nvPr/>
        </p:nvSpPr>
        <p:spPr>
          <a:xfrm>
            <a:off x="8046720" y="448056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8641080" y="4434840"/>
            <a:ext cx="2834640" cy="1097280"/>
          </a:xfrm>
          <a:prstGeom prst="rect">
            <a:avLst/>
          </a:prstGeom>
          <a:noFill/>
          <a:ln/>
        </p:spPr>
        <p:txBody>
          <a:bodyPr wrap="square" lIns="0" tIns="0" rIns="0" bIns="0" rtlCol="0" anchor="t"/>
          <a:lstStyle/>
          <a:p>
            <a:pPr indent="0" marL="0">
              <a:buNone/>
            </a:pPr>
            <a:r>
              <a:rPr lang="en-US" sz="1400" dirty="0">
                <a:solidFill>
                  <a:schemeClr val="tx1"/>
                </a:solidFill>
              </a:rPr>
              <a:t>Deploy on the institution's server with HTTPS, scheduler and backups</a:t>
            </a:r>
            <a:endParaRPr lang="en-US" sz="1400" dirty="0"/>
          </a:p>
        </p:txBody>
      </p:sp>
      <p:sp>
        <p:nvSpPr>
          <p:cNvPr id="25" name="Slide Number Placeholder 0"/>
          <p:cNvSpPr>
            <a:spLocks noGrp="1"/>
          </p:cNvSpPr>
          <p:nvPr>
            <p:ph type="sldNum" sz="quarter" idx="4294967295"/>
          </p:nvPr>
        </p:nvSpPr>
        <p:spPr>
          <a:xfrm>
            <a:off x="1100297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640080" y="1645920"/>
            <a:ext cx="7315200" cy="274320"/>
          </a:xfrm>
          <a:prstGeom prst="rect">
            <a:avLst/>
          </a:prstGeom>
          <a:noFill/>
          <a:ln/>
        </p:spPr>
        <p:txBody>
          <a:bodyPr wrap="square" lIns="0" tIns="0" rIns="0" bIns="0" rtlCol="0" anchor="ctr"/>
          <a:lstStyle/>
          <a:p>
            <a:pPr indent="0" marL="0">
              <a:buNone/>
            </a:pPr>
            <a:r>
              <a:rPr lang="en-US" sz="1100" b="1" spc="300" kern="0" dirty="0">
                <a:solidFill>
                  <a:schemeClr val="accent2"/>
                </a:solidFill>
              </a:rPr>
              <a:t>OFFICER CANDIDATE TRAINING MANAGEMENT SYSTEM</a:t>
            </a:r>
            <a:endParaRPr lang="en-US" sz="1100" dirty="0"/>
          </a:p>
        </p:txBody>
      </p:sp>
      <p:sp>
        <p:nvSpPr>
          <p:cNvPr id="3" name="Text 0"/>
          <p:cNvSpPr/>
          <p:nvPr>
            <p:ph idx="100" type="title" hasCustomPrompt="1"/>
          </p:nvPr>
        </p:nvSpPr>
        <p:spPr>
          <a:xfrm>
            <a:off x="640080" y="2148840"/>
            <a:ext cx="8778240" cy="182880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4" name="Text 0"/>
          <p:cNvSpPr/>
          <p:nvPr>
            <p:ph idx="101" type="body" hasCustomPrompt="1"/>
          </p:nvPr>
        </p:nvSpPr>
        <p:spPr>
          <a:xfrm>
            <a:off x="640080" y="4160520"/>
            <a:ext cx="7863840" cy="1005840"/>
          </a:xfrm>
          <a:prstGeom prst="rect">
            <a:avLst/>
          </a:prstGeom>
          <a:noFill/>
          <a:ln/>
        </p:spPr>
        <p:txBody>
          <a:bodyPr wrap="square" lIns="0" tIns="0" rIns="0" bIns="0" rtlCol="0" anchor="t"/>
          <a:lstStyle/>
          <a:p>
            <a:pPr algn="l" indent="0" marL="0">
              <a:buNone/>
            </a:pPr>
            <a:r>
              <a:rPr lang="en-US" sz="1800" dirty="0">
                <a:solidFill>
                  <a:srgbClr val="D7E3DC"/>
                </a:solidFill>
              </a:rPr>
              <a:t>Questions and live demonstration</a:t>
            </a:r>
            <a:endParaRPr lang="en-US" sz="1800" dirty="0"/>
          </a:p>
        </p:txBody>
      </p:sp>
    </p:spTree>
  </p:cSld>
  <p:clrMapOvr>
    <a:masterClrMapping/>
  </p:clrMapOvr>
</p:sld>
</file>

<file path=ppt/theme/theme1.xml><?xml version="1.0" encoding="utf-8"?>
<a:theme xmlns:a="http://schemas.openxmlformats.org/drawingml/2006/main" name="OCTMS">
  <a:themeElements>
    <a:clrScheme name="OCTMS">
      <a:dk1>
        <a:srgbClr val="1B2A24"/>
      </a:dk1>
      <a:lt1>
        <a:srgbClr val="FFFFFF"/>
      </a:lt1>
      <a:dk2>
        <a:srgbClr val="154734"/>
      </a:dk2>
      <a:lt2>
        <a:srgbClr val="EEF3F0"/>
      </a:lt2>
      <a:accent1>
        <a:srgbClr val="1F6B4A"/>
      </a:accent1>
      <a:accent2>
        <a:srgbClr val="C9A227"/>
      </a:accent2>
      <a:accent3>
        <a:srgbClr val="0E2A3D"/>
      </a:accent3>
      <a:accent4>
        <a:srgbClr val="B42318"/>
      </a:accent4>
      <a:accent5>
        <a:srgbClr val="B7791F"/>
      </a:accent5>
      <a:accent6>
        <a:srgbClr val="6B7A73"/>
      </a:accent6>
      <a:hlink>
        <a:srgbClr val="1F6B4A"/>
      </a:hlink>
      <a:folHlink>
        <a:srgbClr val="0E2A3D"/>
      </a:folHlink>
    </a:clrScheme>
    <a:fontScheme name="OCT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Officer Candidate Training Management System</dc:title>
  <dc:subject>System overview</dc:subject>
  <dc:creator>Academic Monitoring System project team</dc:creator>
  <cp:lastModifiedBy>Academic Monitoring System project team</cp:lastModifiedBy>
  <cp:revision>1</cp:revision>
  <dcterms:created xsi:type="dcterms:W3CDTF">2026-10-01T22:52:30Z</dcterms:created>
  <dcterms:modified xsi:type="dcterms:W3CDTF">2026-10-01T22:52:30Z</dcterms:modified>
</cp:coreProperties>
</file>